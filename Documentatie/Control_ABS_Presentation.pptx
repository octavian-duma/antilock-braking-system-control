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notesMasterIdLst>
    <p:notesMasterId r:id="rId14"/>
  </p:notesMasterIdLst>
  <p:sldIdLst>
    <p:sldId id="256" r:id="rId2"/>
    <p:sldId id="257" r:id="rId3"/>
    <p:sldId id="258" r:id="rId4"/>
    <p:sldId id="262" r:id="rId5"/>
    <p:sldId id="261" r:id="rId6"/>
    <p:sldId id="259" r:id="rId7"/>
    <p:sldId id="260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>
        <p:scale>
          <a:sx n="80" d="100"/>
          <a:sy n="80" d="100"/>
        </p:scale>
        <p:origin x="1124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1A675C-C25A-48D2-9D85-AB7BF76C9EC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DD9043-2D2A-4A0A-BBDC-450834CF3989}">
      <dgm:prSet/>
      <dgm:spPr/>
      <dgm:t>
        <a:bodyPr/>
        <a:lstStyle/>
        <a:p>
          <a:r>
            <a:rPr lang="en-US" b="0" i="0" baseline="0" dirty="0"/>
            <a:t>Am </a:t>
          </a:r>
          <a:r>
            <a:rPr lang="en-US" b="0" i="0" baseline="0" dirty="0" err="1"/>
            <a:t>implementat</a:t>
          </a:r>
          <a:r>
            <a:rPr lang="en-US" b="0" i="0" baseline="0" dirty="0"/>
            <a:t> cu </a:t>
          </a:r>
          <a:r>
            <a:rPr lang="en-US" b="0" i="0" baseline="0" dirty="0" err="1"/>
            <a:t>succes</a:t>
          </a:r>
          <a:r>
            <a:rPr lang="en-US" b="0" i="0" baseline="0" dirty="0"/>
            <a:t> un regulator MPC </a:t>
          </a:r>
          <a:r>
            <a:rPr lang="en-US" b="0" i="0" baseline="0" dirty="0" err="1"/>
            <a:t>bazat</a:t>
          </a:r>
          <a:r>
            <a:rPr lang="en-US" b="0" i="0" baseline="0" dirty="0"/>
            <a:t> pe </a:t>
          </a:r>
          <a:r>
            <a:rPr lang="en-US" b="0" i="0" baseline="0" dirty="0" err="1"/>
            <a:t>modelul</a:t>
          </a:r>
          <a:r>
            <a:rPr lang="en-US" b="0" i="0" baseline="0" dirty="0"/>
            <a:t> </a:t>
          </a:r>
          <a:r>
            <a:rPr lang="en-US" b="0" i="0" baseline="0" dirty="0" err="1"/>
            <a:t>identificat</a:t>
          </a:r>
          <a:r>
            <a:rPr lang="en-US" b="0" i="0" baseline="0" dirty="0"/>
            <a:t> cu N4SID </a:t>
          </a:r>
          <a:r>
            <a:rPr lang="en-US" b="0" i="0" baseline="0" dirty="0" err="1"/>
            <a:t>și</a:t>
          </a:r>
          <a:r>
            <a:rPr lang="en-US" b="0" i="0" baseline="0" dirty="0"/>
            <a:t> </a:t>
          </a:r>
          <a:r>
            <a:rPr lang="en-US" b="0" i="0" baseline="0" dirty="0" err="1"/>
            <a:t>optimizat</a:t>
          </a:r>
          <a:r>
            <a:rPr lang="en-US" b="0" i="0" baseline="0" dirty="0"/>
            <a:t> cu PEM </a:t>
          </a:r>
          <a:r>
            <a:rPr lang="en-US" b="0" i="0" baseline="0" dirty="0" err="1"/>
            <a:t>pentru</a:t>
          </a:r>
          <a:r>
            <a:rPr lang="en-US" b="0" i="0" baseline="0" dirty="0"/>
            <a:t> </a:t>
          </a:r>
          <a:r>
            <a:rPr lang="en-US" b="0" i="0" baseline="0" dirty="0" err="1"/>
            <a:t>controlul</a:t>
          </a:r>
          <a:r>
            <a:rPr lang="en-US" b="0" i="0" baseline="0" dirty="0"/>
            <a:t> ABS.</a:t>
          </a:r>
          <a:endParaRPr lang="en-US" dirty="0"/>
        </a:p>
      </dgm:t>
    </dgm:pt>
    <dgm:pt modelId="{17CD22A0-021D-44AC-9BEA-D974194A8585}" type="parTrans" cxnId="{43937E31-6397-4DA7-BE74-6C294D07ACB3}">
      <dgm:prSet/>
      <dgm:spPr/>
      <dgm:t>
        <a:bodyPr/>
        <a:lstStyle/>
        <a:p>
          <a:endParaRPr lang="en-US"/>
        </a:p>
      </dgm:t>
    </dgm:pt>
    <dgm:pt modelId="{8B97805C-CCF4-402F-8D5B-10E32A0C8145}" type="sibTrans" cxnId="{43937E31-6397-4DA7-BE74-6C294D07ACB3}">
      <dgm:prSet/>
      <dgm:spPr/>
      <dgm:t>
        <a:bodyPr/>
        <a:lstStyle/>
        <a:p>
          <a:endParaRPr lang="en-US"/>
        </a:p>
      </dgm:t>
    </dgm:pt>
    <dgm:pt modelId="{9A57DF49-FA24-405D-AFA1-25AAAE0CC35A}">
      <dgm:prSet/>
      <dgm:spPr/>
      <dgm:t>
        <a:bodyPr/>
        <a:lstStyle/>
        <a:p>
          <a:r>
            <a:rPr lang="en-US" b="0" i="0" baseline="0"/>
            <a:t>Slip-ul a fost menținut aproape de referința 0,7, fără suprareglaj și cu timp de răspuns redus.</a:t>
          </a:r>
          <a:endParaRPr lang="en-US"/>
        </a:p>
      </dgm:t>
    </dgm:pt>
    <dgm:pt modelId="{97D7E90E-8BF0-4063-83C5-6CA6170744D2}" type="parTrans" cxnId="{B89889C2-20F9-4479-A6E7-152EF3DE072E}">
      <dgm:prSet/>
      <dgm:spPr/>
      <dgm:t>
        <a:bodyPr/>
        <a:lstStyle/>
        <a:p>
          <a:endParaRPr lang="en-US"/>
        </a:p>
      </dgm:t>
    </dgm:pt>
    <dgm:pt modelId="{5325134D-E3CC-4A76-AF62-DF62EFE8AD3F}" type="sibTrans" cxnId="{B89889C2-20F9-4479-A6E7-152EF3DE072E}">
      <dgm:prSet/>
      <dgm:spPr/>
      <dgm:t>
        <a:bodyPr/>
        <a:lstStyle/>
        <a:p>
          <a:endParaRPr lang="en-US"/>
        </a:p>
      </dgm:t>
    </dgm:pt>
    <dgm:pt modelId="{935030C2-886C-479B-93E2-3E2271DEAD76}">
      <dgm:prSet/>
      <dgm:spPr/>
      <dgm:t>
        <a:bodyPr/>
        <a:lstStyle/>
        <a:p>
          <a:r>
            <a:rPr lang="en-US" b="0" i="0" baseline="0"/>
            <a:t>MPC a permis respectarea strictă a constrângerilor pe slip și comandă, fiind mai flexibil decât alte metode testate.</a:t>
          </a:r>
          <a:endParaRPr lang="en-US"/>
        </a:p>
      </dgm:t>
    </dgm:pt>
    <dgm:pt modelId="{07D09C96-0D6C-4412-A41E-DDFBC9C42101}" type="parTrans" cxnId="{C87DAC90-4BFA-4D16-AD02-0DE4674EB981}">
      <dgm:prSet/>
      <dgm:spPr/>
      <dgm:t>
        <a:bodyPr/>
        <a:lstStyle/>
        <a:p>
          <a:endParaRPr lang="en-US"/>
        </a:p>
      </dgm:t>
    </dgm:pt>
    <dgm:pt modelId="{C800904F-2123-40A9-B3ED-C63BCC9A2905}" type="sibTrans" cxnId="{C87DAC90-4BFA-4D16-AD02-0DE4674EB981}">
      <dgm:prSet/>
      <dgm:spPr/>
      <dgm:t>
        <a:bodyPr/>
        <a:lstStyle/>
        <a:p>
          <a:endParaRPr lang="en-US"/>
        </a:p>
      </dgm:t>
    </dgm:pt>
    <dgm:pt modelId="{8F0360AC-0982-446C-9D25-E42A44BBE4B8}">
      <dgm:prSet/>
      <dgm:spPr/>
      <dgm:t>
        <a:bodyPr/>
        <a:lstStyle/>
        <a:p>
          <a:r>
            <a:rPr lang="en-US" b="0" i="0" baseline="0" dirty="0" err="1"/>
            <a:t>Simulările</a:t>
          </a:r>
          <a:r>
            <a:rPr lang="en-US" b="0" i="0" baseline="0" dirty="0"/>
            <a:t> MATLAB </a:t>
          </a:r>
          <a:r>
            <a:rPr lang="en-US" b="0" i="0" baseline="0" dirty="0" err="1"/>
            <a:t>și</a:t>
          </a:r>
          <a:r>
            <a:rPr lang="en-US" b="0" i="0" baseline="0" dirty="0"/>
            <a:t> Simulink au </a:t>
          </a:r>
          <a:r>
            <a:rPr lang="en-US" b="0" i="0" baseline="0" dirty="0" err="1"/>
            <a:t>validat</a:t>
          </a:r>
          <a:r>
            <a:rPr lang="en-US" b="0" i="0" baseline="0" dirty="0"/>
            <a:t> </a:t>
          </a:r>
          <a:r>
            <a:rPr lang="en-US" b="0" i="0" baseline="0" dirty="0" err="1"/>
            <a:t>stabilitatea</a:t>
          </a:r>
          <a:r>
            <a:rPr lang="en-US" b="0" i="0" baseline="0" dirty="0"/>
            <a:t> </a:t>
          </a:r>
          <a:r>
            <a:rPr lang="en-US" b="0" i="0" baseline="0" dirty="0" err="1"/>
            <a:t>și</a:t>
          </a:r>
          <a:r>
            <a:rPr lang="en-US" b="0" i="0" baseline="0" dirty="0"/>
            <a:t> </a:t>
          </a:r>
          <a:r>
            <a:rPr lang="en-US" b="0" i="0" baseline="0" dirty="0" err="1"/>
            <a:t>robustețea</a:t>
          </a:r>
          <a:r>
            <a:rPr lang="en-US" b="0" i="0" baseline="0" dirty="0"/>
            <a:t> la </a:t>
          </a:r>
          <a:r>
            <a:rPr lang="en-US" b="0" i="0" baseline="0" dirty="0" err="1"/>
            <a:t>variații</a:t>
          </a:r>
          <a:r>
            <a:rPr lang="en-US" b="0" i="0" baseline="0" dirty="0"/>
            <a:t> de </a:t>
          </a:r>
          <a:r>
            <a:rPr lang="en-US" b="0" i="0" baseline="0" dirty="0" err="1"/>
            <a:t>parametri</a:t>
          </a:r>
          <a:r>
            <a:rPr lang="en-US" b="0" i="0" baseline="0" dirty="0"/>
            <a:t> ai </a:t>
          </a:r>
          <a:r>
            <a:rPr lang="en-US" b="0" i="0" baseline="0" dirty="0" err="1"/>
            <a:t>sistemului</a:t>
          </a:r>
          <a:r>
            <a:rPr lang="en-US" b="0" i="0" baseline="0" dirty="0"/>
            <a:t>.</a:t>
          </a:r>
          <a:endParaRPr lang="en-US" dirty="0"/>
        </a:p>
      </dgm:t>
    </dgm:pt>
    <dgm:pt modelId="{5995D6DE-0989-4955-A541-5B3E8E1F6A1F}" type="parTrans" cxnId="{14091A16-E516-49FB-AAC8-647277D6C48B}">
      <dgm:prSet/>
      <dgm:spPr/>
      <dgm:t>
        <a:bodyPr/>
        <a:lstStyle/>
        <a:p>
          <a:endParaRPr lang="en-US"/>
        </a:p>
      </dgm:t>
    </dgm:pt>
    <dgm:pt modelId="{D37E43B6-9327-4E00-8166-B5563E0D1892}" type="sibTrans" cxnId="{14091A16-E516-49FB-AAC8-647277D6C48B}">
      <dgm:prSet/>
      <dgm:spPr/>
      <dgm:t>
        <a:bodyPr/>
        <a:lstStyle/>
        <a:p>
          <a:endParaRPr lang="en-US"/>
        </a:p>
      </dgm:t>
    </dgm:pt>
    <dgm:pt modelId="{84C38A43-ACB4-4A21-AD5F-900CE0DA647C}">
      <dgm:prSet/>
      <dgm:spPr/>
      <dgm:t>
        <a:bodyPr/>
        <a:lstStyle/>
        <a:p>
          <a:r>
            <a:rPr lang="en-US" b="0" i="0" baseline="0"/>
            <a:t>Structura modulară a permis integrarea rapidă și testarea mai multor configurații de control.</a:t>
          </a:r>
          <a:endParaRPr lang="en-US"/>
        </a:p>
      </dgm:t>
    </dgm:pt>
    <dgm:pt modelId="{25FEC6B5-D5BC-4629-964E-B2F6B5505484}" type="parTrans" cxnId="{BEEB9984-A81C-4E85-9038-4534987136BC}">
      <dgm:prSet/>
      <dgm:spPr/>
      <dgm:t>
        <a:bodyPr/>
        <a:lstStyle/>
        <a:p>
          <a:endParaRPr lang="en-US"/>
        </a:p>
      </dgm:t>
    </dgm:pt>
    <dgm:pt modelId="{61B92676-E7AF-4550-95A7-869D80B5A9F9}" type="sibTrans" cxnId="{BEEB9984-A81C-4E85-9038-4534987136BC}">
      <dgm:prSet/>
      <dgm:spPr/>
      <dgm:t>
        <a:bodyPr/>
        <a:lstStyle/>
        <a:p>
          <a:endParaRPr lang="en-US"/>
        </a:p>
      </dgm:t>
    </dgm:pt>
    <dgm:pt modelId="{FEC75D9A-FB50-434C-8E6C-22ECA7AD8392}">
      <dgm:prSet/>
      <dgm:spPr/>
      <dgm:t>
        <a:bodyPr/>
        <a:lstStyle/>
        <a:p>
          <a:r>
            <a:rPr lang="en-US" b="0" i="0" baseline="0" dirty="0"/>
            <a:t>Am </a:t>
          </a:r>
          <a:r>
            <a:rPr lang="en-US" b="0" i="0" baseline="0" dirty="0" err="1"/>
            <a:t>efectuat</a:t>
          </a:r>
          <a:r>
            <a:rPr lang="en-US" b="0" i="0" baseline="0" dirty="0"/>
            <a:t> teste comparative pe model</a:t>
          </a:r>
          <a:r>
            <a:rPr lang="ro-RO" b="0" i="0" baseline="0" dirty="0" err="1"/>
            <a:t>ul</a:t>
          </a:r>
          <a:r>
            <a:rPr lang="en-US" b="0" i="0" baseline="0" dirty="0"/>
            <a:t> </a:t>
          </a:r>
          <a:r>
            <a:rPr lang="en-US" b="0" i="0" baseline="0" dirty="0" err="1"/>
            <a:t>identificat</a:t>
          </a:r>
          <a:r>
            <a:rPr lang="en-US" b="0" i="0" baseline="0" dirty="0"/>
            <a:t> </a:t>
          </a:r>
          <a:r>
            <a:rPr lang="ro-RO" b="0" i="0" baseline="0" dirty="0"/>
            <a:t>de</a:t>
          </a:r>
          <a:r>
            <a:rPr lang="en-US" b="0" i="0" baseline="0" dirty="0"/>
            <a:t> pe </a:t>
          </a:r>
          <a:r>
            <a:rPr lang="en-US" b="0" i="0" baseline="0" dirty="0" err="1"/>
            <a:t>platforma</a:t>
          </a:r>
          <a:r>
            <a:rPr lang="en-US" b="0" i="0" baseline="0" dirty="0"/>
            <a:t> INTECO, </a:t>
          </a:r>
          <a:r>
            <a:rPr lang="en-US" b="0" i="0" baseline="0" dirty="0" err="1"/>
            <a:t>inclusiv</a:t>
          </a:r>
          <a:r>
            <a:rPr lang="en-US" b="0" i="0" baseline="0" dirty="0"/>
            <a:t> pe </a:t>
          </a:r>
          <a:r>
            <a:rPr lang="en-US" b="0" i="0" baseline="0" dirty="0" err="1"/>
            <a:t>sisteme</a:t>
          </a:r>
          <a:r>
            <a:rPr lang="en-US" b="0" i="0" baseline="0" dirty="0"/>
            <a:t> cu </a:t>
          </a:r>
          <a:r>
            <a:rPr lang="en-US" b="0" i="0" baseline="0" dirty="0" err="1"/>
            <a:t>versiuni</a:t>
          </a:r>
          <a:r>
            <a:rPr lang="en-US" b="0" i="0" baseline="0" dirty="0"/>
            <a:t> </a:t>
          </a:r>
          <a:r>
            <a:rPr lang="en-US" b="0" i="0" baseline="0" dirty="0" err="1"/>
            <a:t>diferite</a:t>
          </a:r>
          <a:r>
            <a:rPr lang="en-US" b="0" i="0" baseline="0" dirty="0"/>
            <a:t> de MATLAB.</a:t>
          </a:r>
          <a:endParaRPr lang="en-US" dirty="0"/>
        </a:p>
      </dgm:t>
    </dgm:pt>
    <dgm:pt modelId="{4F8CA9E6-A5AD-4D26-9ED7-A00035E0DB7B}" type="parTrans" cxnId="{E41A3AE0-FFB0-4D4A-A4D3-15D1F332119A}">
      <dgm:prSet/>
      <dgm:spPr/>
      <dgm:t>
        <a:bodyPr/>
        <a:lstStyle/>
        <a:p>
          <a:endParaRPr lang="en-US"/>
        </a:p>
      </dgm:t>
    </dgm:pt>
    <dgm:pt modelId="{E8D25B08-C78D-42DF-BC66-E6FD94929829}" type="sibTrans" cxnId="{E41A3AE0-FFB0-4D4A-A4D3-15D1F332119A}">
      <dgm:prSet/>
      <dgm:spPr/>
      <dgm:t>
        <a:bodyPr/>
        <a:lstStyle/>
        <a:p>
          <a:endParaRPr lang="en-US"/>
        </a:p>
      </dgm:t>
    </dgm:pt>
    <dgm:pt modelId="{46983F98-B9C0-47A9-9873-376E4624A56E}">
      <dgm:prSet/>
      <dgm:spPr/>
      <dgm:t>
        <a:bodyPr/>
        <a:lstStyle/>
        <a:p>
          <a:r>
            <a:rPr lang="en-US" b="0" i="0" baseline="0"/>
            <a:t>S-au observat diferențe între răspunsul modelului identificat și cel al sistemului real, datorate limitărilor de compatibilitate și modelare.</a:t>
          </a:r>
          <a:endParaRPr lang="en-US"/>
        </a:p>
      </dgm:t>
    </dgm:pt>
    <dgm:pt modelId="{A798F8A8-C868-4175-AE6A-473159D4AF2B}" type="parTrans" cxnId="{52E2A9FA-9576-4405-9556-CD94CE3F882E}">
      <dgm:prSet/>
      <dgm:spPr/>
      <dgm:t>
        <a:bodyPr/>
        <a:lstStyle/>
        <a:p>
          <a:endParaRPr lang="en-US"/>
        </a:p>
      </dgm:t>
    </dgm:pt>
    <dgm:pt modelId="{05404B43-F067-4856-B661-EBECA85F70A0}" type="sibTrans" cxnId="{52E2A9FA-9576-4405-9556-CD94CE3F882E}">
      <dgm:prSet/>
      <dgm:spPr/>
      <dgm:t>
        <a:bodyPr/>
        <a:lstStyle/>
        <a:p>
          <a:endParaRPr lang="en-US"/>
        </a:p>
      </dgm:t>
    </dgm:pt>
    <dgm:pt modelId="{5FA56FEB-87AB-449E-9378-5647A9456D83}">
      <dgm:prSet/>
      <dgm:spPr/>
      <dgm:t>
        <a:bodyPr/>
        <a:lstStyle/>
        <a:p>
          <a:r>
            <a:rPr lang="en-US" b="0" i="0" baseline="0"/>
            <a:t>Există potențial de optimizare suplimentară a timpului de răspuns și performanței regulatorului pe modelul real.</a:t>
          </a:r>
          <a:endParaRPr lang="en-US"/>
        </a:p>
      </dgm:t>
    </dgm:pt>
    <dgm:pt modelId="{AA19F4C5-1024-4C01-A9CA-A713D224169E}" type="parTrans" cxnId="{523BA45D-D8A7-4EC0-AE79-F6126FBAE708}">
      <dgm:prSet/>
      <dgm:spPr/>
      <dgm:t>
        <a:bodyPr/>
        <a:lstStyle/>
        <a:p>
          <a:endParaRPr lang="en-US"/>
        </a:p>
      </dgm:t>
    </dgm:pt>
    <dgm:pt modelId="{21878B4C-4C20-4BEC-9559-F6B4F9571A7D}" type="sibTrans" cxnId="{523BA45D-D8A7-4EC0-AE79-F6126FBAE708}">
      <dgm:prSet/>
      <dgm:spPr/>
      <dgm:t>
        <a:bodyPr/>
        <a:lstStyle/>
        <a:p>
          <a:endParaRPr lang="en-US"/>
        </a:p>
      </dgm:t>
    </dgm:pt>
    <dgm:pt modelId="{6938A110-C40F-47BB-8709-4D94088D20A1}" type="pres">
      <dgm:prSet presAssocID="{7F1A675C-C25A-48D2-9D85-AB7BF76C9EC3}" presName="vert0" presStyleCnt="0">
        <dgm:presLayoutVars>
          <dgm:dir/>
          <dgm:animOne val="branch"/>
          <dgm:animLvl val="lvl"/>
        </dgm:presLayoutVars>
      </dgm:prSet>
      <dgm:spPr/>
    </dgm:pt>
    <dgm:pt modelId="{8FF09C49-52E2-47DE-9C2A-7C2673367DDE}" type="pres">
      <dgm:prSet presAssocID="{15DD9043-2D2A-4A0A-BBDC-450834CF3989}" presName="thickLine" presStyleLbl="alignNode1" presStyleIdx="0" presStyleCnt="8"/>
      <dgm:spPr/>
    </dgm:pt>
    <dgm:pt modelId="{BD399D80-3CBB-4245-A89B-A5905F67DF4A}" type="pres">
      <dgm:prSet presAssocID="{15DD9043-2D2A-4A0A-BBDC-450834CF3989}" presName="horz1" presStyleCnt="0"/>
      <dgm:spPr/>
    </dgm:pt>
    <dgm:pt modelId="{5DFF9561-4D23-47A4-BCAD-DDE6DF575D53}" type="pres">
      <dgm:prSet presAssocID="{15DD9043-2D2A-4A0A-BBDC-450834CF3989}" presName="tx1" presStyleLbl="revTx" presStyleIdx="0" presStyleCnt="8"/>
      <dgm:spPr/>
    </dgm:pt>
    <dgm:pt modelId="{20CF709E-3529-417F-BBC6-3955642F990D}" type="pres">
      <dgm:prSet presAssocID="{15DD9043-2D2A-4A0A-BBDC-450834CF3989}" presName="vert1" presStyleCnt="0"/>
      <dgm:spPr/>
    </dgm:pt>
    <dgm:pt modelId="{061ABE99-7B50-45B8-BD2C-5726298BC79A}" type="pres">
      <dgm:prSet presAssocID="{9A57DF49-FA24-405D-AFA1-25AAAE0CC35A}" presName="thickLine" presStyleLbl="alignNode1" presStyleIdx="1" presStyleCnt="8"/>
      <dgm:spPr/>
    </dgm:pt>
    <dgm:pt modelId="{FBAB6168-6F7E-40F4-92A4-E5C7CAA7F229}" type="pres">
      <dgm:prSet presAssocID="{9A57DF49-FA24-405D-AFA1-25AAAE0CC35A}" presName="horz1" presStyleCnt="0"/>
      <dgm:spPr/>
    </dgm:pt>
    <dgm:pt modelId="{888DF243-138A-405E-AD3F-86C3565285CB}" type="pres">
      <dgm:prSet presAssocID="{9A57DF49-FA24-405D-AFA1-25AAAE0CC35A}" presName="tx1" presStyleLbl="revTx" presStyleIdx="1" presStyleCnt="8"/>
      <dgm:spPr/>
    </dgm:pt>
    <dgm:pt modelId="{B6F4FFF5-977E-4B00-895B-96597A2A68B7}" type="pres">
      <dgm:prSet presAssocID="{9A57DF49-FA24-405D-AFA1-25AAAE0CC35A}" presName="vert1" presStyleCnt="0"/>
      <dgm:spPr/>
    </dgm:pt>
    <dgm:pt modelId="{986DDF65-0EE8-41ED-BE0C-B35759E8E0ED}" type="pres">
      <dgm:prSet presAssocID="{935030C2-886C-479B-93E2-3E2271DEAD76}" presName="thickLine" presStyleLbl="alignNode1" presStyleIdx="2" presStyleCnt="8"/>
      <dgm:spPr/>
    </dgm:pt>
    <dgm:pt modelId="{2DB3A913-4982-432B-8550-38677B82DCCB}" type="pres">
      <dgm:prSet presAssocID="{935030C2-886C-479B-93E2-3E2271DEAD76}" presName="horz1" presStyleCnt="0"/>
      <dgm:spPr/>
    </dgm:pt>
    <dgm:pt modelId="{51074535-8C39-4125-8BF2-CC922A2E47BC}" type="pres">
      <dgm:prSet presAssocID="{935030C2-886C-479B-93E2-3E2271DEAD76}" presName="tx1" presStyleLbl="revTx" presStyleIdx="2" presStyleCnt="8"/>
      <dgm:spPr/>
    </dgm:pt>
    <dgm:pt modelId="{C9CE7AF6-2729-4CD3-A9BC-29EA326329B9}" type="pres">
      <dgm:prSet presAssocID="{935030C2-886C-479B-93E2-3E2271DEAD76}" presName="vert1" presStyleCnt="0"/>
      <dgm:spPr/>
    </dgm:pt>
    <dgm:pt modelId="{2DF8A9EB-6842-4A1F-AA60-CF8C1C31C055}" type="pres">
      <dgm:prSet presAssocID="{8F0360AC-0982-446C-9D25-E42A44BBE4B8}" presName="thickLine" presStyleLbl="alignNode1" presStyleIdx="3" presStyleCnt="8"/>
      <dgm:spPr/>
    </dgm:pt>
    <dgm:pt modelId="{A16B63AF-7AD7-417E-B686-7DDE2085FC3C}" type="pres">
      <dgm:prSet presAssocID="{8F0360AC-0982-446C-9D25-E42A44BBE4B8}" presName="horz1" presStyleCnt="0"/>
      <dgm:spPr/>
    </dgm:pt>
    <dgm:pt modelId="{D4418BB5-A7A2-4A50-B656-F38C8044223E}" type="pres">
      <dgm:prSet presAssocID="{8F0360AC-0982-446C-9D25-E42A44BBE4B8}" presName="tx1" presStyleLbl="revTx" presStyleIdx="3" presStyleCnt="8"/>
      <dgm:spPr/>
    </dgm:pt>
    <dgm:pt modelId="{6A0A1CC4-2FE4-4C5E-A2A3-49857FB70876}" type="pres">
      <dgm:prSet presAssocID="{8F0360AC-0982-446C-9D25-E42A44BBE4B8}" presName="vert1" presStyleCnt="0"/>
      <dgm:spPr/>
    </dgm:pt>
    <dgm:pt modelId="{06B866E7-248B-4345-A20D-B2C657241F50}" type="pres">
      <dgm:prSet presAssocID="{84C38A43-ACB4-4A21-AD5F-900CE0DA647C}" presName="thickLine" presStyleLbl="alignNode1" presStyleIdx="4" presStyleCnt="8"/>
      <dgm:spPr/>
    </dgm:pt>
    <dgm:pt modelId="{9B97C89D-4BEE-441B-AA8C-038DBA4E8815}" type="pres">
      <dgm:prSet presAssocID="{84C38A43-ACB4-4A21-AD5F-900CE0DA647C}" presName="horz1" presStyleCnt="0"/>
      <dgm:spPr/>
    </dgm:pt>
    <dgm:pt modelId="{60207991-91D4-4112-AE4F-09F0783E9E7C}" type="pres">
      <dgm:prSet presAssocID="{84C38A43-ACB4-4A21-AD5F-900CE0DA647C}" presName="tx1" presStyleLbl="revTx" presStyleIdx="4" presStyleCnt="8"/>
      <dgm:spPr/>
    </dgm:pt>
    <dgm:pt modelId="{D0F53867-B2ED-4AA8-8C01-0477BE24BCD4}" type="pres">
      <dgm:prSet presAssocID="{84C38A43-ACB4-4A21-AD5F-900CE0DA647C}" presName="vert1" presStyleCnt="0"/>
      <dgm:spPr/>
    </dgm:pt>
    <dgm:pt modelId="{099BB0C3-6F42-4467-89A6-301413B26D82}" type="pres">
      <dgm:prSet presAssocID="{FEC75D9A-FB50-434C-8E6C-22ECA7AD8392}" presName="thickLine" presStyleLbl="alignNode1" presStyleIdx="5" presStyleCnt="8"/>
      <dgm:spPr/>
    </dgm:pt>
    <dgm:pt modelId="{C92EB7EF-96C5-4A0D-A6B0-5FD77131BFC4}" type="pres">
      <dgm:prSet presAssocID="{FEC75D9A-FB50-434C-8E6C-22ECA7AD8392}" presName="horz1" presStyleCnt="0"/>
      <dgm:spPr/>
    </dgm:pt>
    <dgm:pt modelId="{2DB8CF1A-8A8D-4EDA-B4E0-E5B99454461A}" type="pres">
      <dgm:prSet presAssocID="{FEC75D9A-FB50-434C-8E6C-22ECA7AD8392}" presName="tx1" presStyleLbl="revTx" presStyleIdx="5" presStyleCnt="8"/>
      <dgm:spPr/>
    </dgm:pt>
    <dgm:pt modelId="{653748B4-57BD-4476-938F-22F833CDEAED}" type="pres">
      <dgm:prSet presAssocID="{FEC75D9A-FB50-434C-8E6C-22ECA7AD8392}" presName="vert1" presStyleCnt="0"/>
      <dgm:spPr/>
    </dgm:pt>
    <dgm:pt modelId="{87ACC990-887B-4BDF-BFD4-1DA6636F1F3D}" type="pres">
      <dgm:prSet presAssocID="{46983F98-B9C0-47A9-9873-376E4624A56E}" presName="thickLine" presStyleLbl="alignNode1" presStyleIdx="6" presStyleCnt="8"/>
      <dgm:spPr/>
    </dgm:pt>
    <dgm:pt modelId="{66AB95AE-F3DA-41CA-97FB-72BE8E3FE825}" type="pres">
      <dgm:prSet presAssocID="{46983F98-B9C0-47A9-9873-376E4624A56E}" presName="horz1" presStyleCnt="0"/>
      <dgm:spPr/>
    </dgm:pt>
    <dgm:pt modelId="{6291B200-8CC6-4A75-83A1-0E88FCCEE602}" type="pres">
      <dgm:prSet presAssocID="{46983F98-B9C0-47A9-9873-376E4624A56E}" presName="tx1" presStyleLbl="revTx" presStyleIdx="6" presStyleCnt="8"/>
      <dgm:spPr/>
    </dgm:pt>
    <dgm:pt modelId="{406B1562-9A04-40E7-9ACA-81B0EA1FBD93}" type="pres">
      <dgm:prSet presAssocID="{46983F98-B9C0-47A9-9873-376E4624A56E}" presName="vert1" presStyleCnt="0"/>
      <dgm:spPr/>
    </dgm:pt>
    <dgm:pt modelId="{450812A7-329C-4389-965F-AD52F23A4C95}" type="pres">
      <dgm:prSet presAssocID="{5FA56FEB-87AB-449E-9378-5647A9456D83}" presName="thickLine" presStyleLbl="alignNode1" presStyleIdx="7" presStyleCnt="8"/>
      <dgm:spPr/>
    </dgm:pt>
    <dgm:pt modelId="{F770AB46-BE22-4BDD-95CF-C7E60B2C690E}" type="pres">
      <dgm:prSet presAssocID="{5FA56FEB-87AB-449E-9378-5647A9456D83}" presName="horz1" presStyleCnt="0"/>
      <dgm:spPr/>
    </dgm:pt>
    <dgm:pt modelId="{27E0145F-206E-4F60-897E-392E4EAA9D63}" type="pres">
      <dgm:prSet presAssocID="{5FA56FEB-87AB-449E-9378-5647A9456D83}" presName="tx1" presStyleLbl="revTx" presStyleIdx="7" presStyleCnt="8"/>
      <dgm:spPr/>
    </dgm:pt>
    <dgm:pt modelId="{94F105FC-12BA-4CD6-A0CD-CF08D1873251}" type="pres">
      <dgm:prSet presAssocID="{5FA56FEB-87AB-449E-9378-5647A9456D83}" presName="vert1" presStyleCnt="0"/>
      <dgm:spPr/>
    </dgm:pt>
  </dgm:ptLst>
  <dgm:cxnLst>
    <dgm:cxn modelId="{14091A16-E516-49FB-AAC8-647277D6C48B}" srcId="{7F1A675C-C25A-48D2-9D85-AB7BF76C9EC3}" destId="{8F0360AC-0982-446C-9D25-E42A44BBE4B8}" srcOrd="3" destOrd="0" parTransId="{5995D6DE-0989-4955-A541-5B3E8E1F6A1F}" sibTransId="{D37E43B6-9327-4E00-8166-B5563E0D1892}"/>
    <dgm:cxn modelId="{3BDC4716-C33D-49E8-B80C-7D211548FFE0}" type="presOf" srcId="{46983F98-B9C0-47A9-9873-376E4624A56E}" destId="{6291B200-8CC6-4A75-83A1-0E88FCCEE602}" srcOrd="0" destOrd="0" presId="urn:microsoft.com/office/officeart/2008/layout/LinedList"/>
    <dgm:cxn modelId="{84B0F824-85A2-45C3-AF6D-8C1850C9DB87}" type="presOf" srcId="{9A57DF49-FA24-405D-AFA1-25AAAE0CC35A}" destId="{888DF243-138A-405E-AD3F-86C3565285CB}" srcOrd="0" destOrd="0" presId="urn:microsoft.com/office/officeart/2008/layout/LinedList"/>
    <dgm:cxn modelId="{56E4852E-A599-48F1-86F7-0E51B96CBBEF}" type="presOf" srcId="{935030C2-886C-479B-93E2-3E2271DEAD76}" destId="{51074535-8C39-4125-8BF2-CC922A2E47BC}" srcOrd="0" destOrd="0" presId="urn:microsoft.com/office/officeart/2008/layout/LinedList"/>
    <dgm:cxn modelId="{43937E31-6397-4DA7-BE74-6C294D07ACB3}" srcId="{7F1A675C-C25A-48D2-9D85-AB7BF76C9EC3}" destId="{15DD9043-2D2A-4A0A-BBDC-450834CF3989}" srcOrd="0" destOrd="0" parTransId="{17CD22A0-021D-44AC-9BEA-D974194A8585}" sibTransId="{8B97805C-CCF4-402F-8D5B-10E32A0C8145}"/>
    <dgm:cxn modelId="{45F9263F-7059-4501-A9EC-2D4B3CC0DD58}" type="presOf" srcId="{8F0360AC-0982-446C-9D25-E42A44BBE4B8}" destId="{D4418BB5-A7A2-4A50-B656-F38C8044223E}" srcOrd="0" destOrd="0" presId="urn:microsoft.com/office/officeart/2008/layout/LinedList"/>
    <dgm:cxn modelId="{523BA45D-D8A7-4EC0-AE79-F6126FBAE708}" srcId="{7F1A675C-C25A-48D2-9D85-AB7BF76C9EC3}" destId="{5FA56FEB-87AB-449E-9378-5647A9456D83}" srcOrd="7" destOrd="0" parTransId="{AA19F4C5-1024-4C01-A9CA-A713D224169E}" sibTransId="{21878B4C-4C20-4BEC-9559-F6B4F9571A7D}"/>
    <dgm:cxn modelId="{DF3A545E-F3DB-45C9-AD72-53823714BDB1}" type="presOf" srcId="{15DD9043-2D2A-4A0A-BBDC-450834CF3989}" destId="{5DFF9561-4D23-47A4-BCAD-DDE6DF575D53}" srcOrd="0" destOrd="0" presId="urn:microsoft.com/office/officeart/2008/layout/LinedList"/>
    <dgm:cxn modelId="{BEEB9984-A81C-4E85-9038-4534987136BC}" srcId="{7F1A675C-C25A-48D2-9D85-AB7BF76C9EC3}" destId="{84C38A43-ACB4-4A21-AD5F-900CE0DA647C}" srcOrd="4" destOrd="0" parTransId="{25FEC6B5-D5BC-4629-964E-B2F6B5505484}" sibTransId="{61B92676-E7AF-4550-95A7-869D80B5A9F9}"/>
    <dgm:cxn modelId="{C87DAC90-4BFA-4D16-AD02-0DE4674EB981}" srcId="{7F1A675C-C25A-48D2-9D85-AB7BF76C9EC3}" destId="{935030C2-886C-479B-93E2-3E2271DEAD76}" srcOrd="2" destOrd="0" parTransId="{07D09C96-0D6C-4412-A41E-DDFBC9C42101}" sibTransId="{C800904F-2123-40A9-B3ED-C63BCC9A2905}"/>
    <dgm:cxn modelId="{542B5293-3D70-4E82-86F2-F5409FD605C3}" type="presOf" srcId="{FEC75D9A-FB50-434C-8E6C-22ECA7AD8392}" destId="{2DB8CF1A-8A8D-4EDA-B4E0-E5B99454461A}" srcOrd="0" destOrd="0" presId="urn:microsoft.com/office/officeart/2008/layout/LinedList"/>
    <dgm:cxn modelId="{C92A7CBD-1F58-4CAC-957F-69E2BAE696A6}" type="presOf" srcId="{5FA56FEB-87AB-449E-9378-5647A9456D83}" destId="{27E0145F-206E-4F60-897E-392E4EAA9D63}" srcOrd="0" destOrd="0" presId="urn:microsoft.com/office/officeart/2008/layout/LinedList"/>
    <dgm:cxn modelId="{B89889C2-20F9-4479-A6E7-152EF3DE072E}" srcId="{7F1A675C-C25A-48D2-9D85-AB7BF76C9EC3}" destId="{9A57DF49-FA24-405D-AFA1-25AAAE0CC35A}" srcOrd="1" destOrd="0" parTransId="{97D7E90E-8BF0-4063-83C5-6CA6170744D2}" sibTransId="{5325134D-E3CC-4A76-AF62-DF62EFE8AD3F}"/>
    <dgm:cxn modelId="{E41A3AE0-FFB0-4D4A-A4D3-15D1F332119A}" srcId="{7F1A675C-C25A-48D2-9D85-AB7BF76C9EC3}" destId="{FEC75D9A-FB50-434C-8E6C-22ECA7AD8392}" srcOrd="5" destOrd="0" parTransId="{4F8CA9E6-A5AD-4D26-9ED7-A00035E0DB7B}" sibTransId="{E8D25B08-C78D-42DF-BC66-E6FD94929829}"/>
    <dgm:cxn modelId="{C62F03F4-F4CE-4ECB-BFFA-3CAC1C4994EE}" type="presOf" srcId="{7F1A675C-C25A-48D2-9D85-AB7BF76C9EC3}" destId="{6938A110-C40F-47BB-8709-4D94088D20A1}" srcOrd="0" destOrd="0" presId="urn:microsoft.com/office/officeart/2008/layout/LinedList"/>
    <dgm:cxn modelId="{52E2A9FA-9576-4405-9556-CD94CE3F882E}" srcId="{7F1A675C-C25A-48D2-9D85-AB7BF76C9EC3}" destId="{46983F98-B9C0-47A9-9873-376E4624A56E}" srcOrd="6" destOrd="0" parTransId="{A798F8A8-C868-4175-AE6A-473159D4AF2B}" sibTransId="{05404B43-F067-4856-B661-EBECA85F70A0}"/>
    <dgm:cxn modelId="{48F99FFE-C8E9-4061-8511-0958FFA8558D}" type="presOf" srcId="{84C38A43-ACB4-4A21-AD5F-900CE0DA647C}" destId="{60207991-91D4-4112-AE4F-09F0783E9E7C}" srcOrd="0" destOrd="0" presId="urn:microsoft.com/office/officeart/2008/layout/LinedList"/>
    <dgm:cxn modelId="{7A3B75B8-2C08-48BE-9532-5959637B4883}" type="presParOf" srcId="{6938A110-C40F-47BB-8709-4D94088D20A1}" destId="{8FF09C49-52E2-47DE-9C2A-7C2673367DDE}" srcOrd="0" destOrd="0" presId="urn:microsoft.com/office/officeart/2008/layout/LinedList"/>
    <dgm:cxn modelId="{DB6043D8-A018-4860-90F0-F744AAD138AA}" type="presParOf" srcId="{6938A110-C40F-47BB-8709-4D94088D20A1}" destId="{BD399D80-3CBB-4245-A89B-A5905F67DF4A}" srcOrd="1" destOrd="0" presId="urn:microsoft.com/office/officeart/2008/layout/LinedList"/>
    <dgm:cxn modelId="{D425527D-E4D7-4DD1-97FA-870F8FBDCC54}" type="presParOf" srcId="{BD399D80-3CBB-4245-A89B-A5905F67DF4A}" destId="{5DFF9561-4D23-47A4-BCAD-DDE6DF575D53}" srcOrd="0" destOrd="0" presId="urn:microsoft.com/office/officeart/2008/layout/LinedList"/>
    <dgm:cxn modelId="{7430DD2E-6377-4437-B942-17B085722673}" type="presParOf" srcId="{BD399D80-3CBB-4245-A89B-A5905F67DF4A}" destId="{20CF709E-3529-417F-BBC6-3955642F990D}" srcOrd="1" destOrd="0" presId="urn:microsoft.com/office/officeart/2008/layout/LinedList"/>
    <dgm:cxn modelId="{1D50A002-0574-4942-A661-6B243BF3DC97}" type="presParOf" srcId="{6938A110-C40F-47BB-8709-4D94088D20A1}" destId="{061ABE99-7B50-45B8-BD2C-5726298BC79A}" srcOrd="2" destOrd="0" presId="urn:microsoft.com/office/officeart/2008/layout/LinedList"/>
    <dgm:cxn modelId="{567C67E8-93E7-475B-B154-8E06E4053053}" type="presParOf" srcId="{6938A110-C40F-47BB-8709-4D94088D20A1}" destId="{FBAB6168-6F7E-40F4-92A4-E5C7CAA7F229}" srcOrd="3" destOrd="0" presId="urn:microsoft.com/office/officeart/2008/layout/LinedList"/>
    <dgm:cxn modelId="{965BDD33-1A57-468B-8476-6851714EA57F}" type="presParOf" srcId="{FBAB6168-6F7E-40F4-92A4-E5C7CAA7F229}" destId="{888DF243-138A-405E-AD3F-86C3565285CB}" srcOrd="0" destOrd="0" presId="urn:microsoft.com/office/officeart/2008/layout/LinedList"/>
    <dgm:cxn modelId="{DD7006F8-DA07-42E0-9939-2B95AE6BD563}" type="presParOf" srcId="{FBAB6168-6F7E-40F4-92A4-E5C7CAA7F229}" destId="{B6F4FFF5-977E-4B00-895B-96597A2A68B7}" srcOrd="1" destOrd="0" presId="urn:microsoft.com/office/officeart/2008/layout/LinedList"/>
    <dgm:cxn modelId="{46A2A01A-5631-4505-BC30-33783D37A50C}" type="presParOf" srcId="{6938A110-C40F-47BB-8709-4D94088D20A1}" destId="{986DDF65-0EE8-41ED-BE0C-B35759E8E0ED}" srcOrd="4" destOrd="0" presId="urn:microsoft.com/office/officeart/2008/layout/LinedList"/>
    <dgm:cxn modelId="{DB92D5AF-F157-466C-8392-DC3BD593CECC}" type="presParOf" srcId="{6938A110-C40F-47BB-8709-4D94088D20A1}" destId="{2DB3A913-4982-432B-8550-38677B82DCCB}" srcOrd="5" destOrd="0" presId="urn:microsoft.com/office/officeart/2008/layout/LinedList"/>
    <dgm:cxn modelId="{3EADE549-C114-45BB-867F-F68A2A451982}" type="presParOf" srcId="{2DB3A913-4982-432B-8550-38677B82DCCB}" destId="{51074535-8C39-4125-8BF2-CC922A2E47BC}" srcOrd="0" destOrd="0" presId="urn:microsoft.com/office/officeart/2008/layout/LinedList"/>
    <dgm:cxn modelId="{39F80B15-2F2A-4BC2-91F2-AC5CE5EA8D42}" type="presParOf" srcId="{2DB3A913-4982-432B-8550-38677B82DCCB}" destId="{C9CE7AF6-2729-4CD3-A9BC-29EA326329B9}" srcOrd="1" destOrd="0" presId="urn:microsoft.com/office/officeart/2008/layout/LinedList"/>
    <dgm:cxn modelId="{5317444D-8F5B-485C-85D8-3E21ABF3DD2F}" type="presParOf" srcId="{6938A110-C40F-47BB-8709-4D94088D20A1}" destId="{2DF8A9EB-6842-4A1F-AA60-CF8C1C31C055}" srcOrd="6" destOrd="0" presId="urn:microsoft.com/office/officeart/2008/layout/LinedList"/>
    <dgm:cxn modelId="{FDAB6740-1BD2-4D03-ACA8-702B7AE9BC47}" type="presParOf" srcId="{6938A110-C40F-47BB-8709-4D94088D20A1}" destId="{A16B63AF-7AD7-417E-B686-7DDE2085FC3C}" srcOrd="7" destOrd="0" presId="urn:microsoft.com/office/officeart/2008/layout/LinedList"/>
    <dgm:cxn modelId="{D2A80605-D2E0-41C6-B8E3-15AD8A0E77BD}" type="presParOf" srcId="{A16B63AF-7AD7-417E-B686-7DDE2085FC3C}" destId="{D4418BB5-A7A2-4A50-B656-F38C8044223E}" srcOrd="0" destOrd="0" presId="urn:microsoft.com/office/officeart/2008/layout/LinedList"/>
    <dgm:cxn modelId="{966E4B19-83D0-4C88-830D-19440E4DF2D2}" type="presParOf" srcId="{A16B63AF-7AD7-417E-B686-7DDE2085FC3C}" destId="{6A0A1CC4-2FE4-4C5E-A2A3-49857FB70876}" srcOrd="1" destOrd="0" presId="urn:microsoft.com/office/officeart/2008/layout/LinedList"/>
    <dgm:cxn modelId="{F751B585-33A5-41E1-B535-18898734F140}" type="presParOf" srcId="{6938A110-C40F-47BB-8709-4D94088D20A1}" destId="{06B866E7-248B-4345-A20D-B2C657241F50}" srcOrd="8" destOrd="0" presId="urn:microsoft.com/office/officeart/2008/layout/LinedList"/>
    <dgm:cxn modelId="{929FC5FB-13E9-4D33-9ABB-6D641BD15F06}" type="presParOf" srcId="{6938A110-C40F-47BB-8709-4D94088D20A1}" destId="{9B97C89D-4BEE-441B-AA8C-038DBA4E8815}" srcOrd="9" destOrd="0" presId="urn:microsoft.com/office/officeart/2008/layout/LinedList"/>
    <dgm:cxn modelId="{EE38068D-BE41-4465-903F-59E493C8770C}" type="presParOf" srcId="{9B97C89D-4BEE-441B-AA8C-038DBA4E8815}" destId="{60207991-91D4-4112-AE4F-09F0783E9E7C}" srcOrd="0" destOrd="0" presId="urn:microsoft.com/office/officeart/2008/layout/LinedList"/>
    <dgm:cxn modelId="{CCE15C9D-7C03-44F4-A3D9-6C03B35B227B}" type="presParOf" srcId="{9B97C89D-4BEE-441B-AA8C-038DBA4E8815}" destId="{D0F53867-B2ED-4AA8-8C01-0477BE24BCD4}" srcOrd="1" destOrd="0" presId="urn:microsoft.com/office/officeart/2008/layout/LinedList"/>
    <dgm:cxn modelId="{E199CB1F-754E-4F8B-BA66-127083DCC1C7}" type="presParOf" srcId="{6938A110-C40F-47BB-8709-4D94088D20A1}" destId="{099BB0C3-6F42-4467-89A6-301413B26D82}" srcOrd="10" destOrd="0" presId="urn:microsoft.com/office/officeart/2008/layout/LinedList"/>
    <dgm:cxn modelId="{09F0753E-460A-4642-8600-76386B9268B7}" type="presParOf" srcId="{6938A110-C40F-47BB-8709-4D94088D20A1}" destId="{C92EB7EF-96C5-4A0D-A6B0-5FD77131BFC4}" srcOrd="11" destOrd="0" presId="urn:microsoft.com/office/officeart/2008/layout/LinedList"/>
    <dgm:cxn modelId="{08B839EA-AF07-4EF7-A34B-42AC2A31C214}" type="presParOf" srcId="{C92EB7EF-96C5-4A0D-A6B0-5FD77131BFC4}" destId="{2DB8CF1A-8A8D-4EDA-B4E0-E5B99454461A}" srcOrd="0" destOrd="0" presId="urn:microsoft.com/office/officeart/2008/layout/LinedList"/>
    <dgm:cxn modelId="{6BB168DC-4F63-4C65-A05B-6F377BE4998F}" type="presParOf" srcId="{C92EB7EF-96C5-4A0D-A6B0-5FD77131BFC4}" destId="{653748B4-57BD-4476-938F-22F833CDEAED}" srcOrd="1" destOrd="0" presId="urn:microsoft.com/office/officeart/2008/layout/LinedList"/>
    <dgm:cxn modelId="{7AC949F9-64FD-49F1-8C9E-CB90A033BC75}" type="presParOf" srcId="{6938A110-C40F-47BB-8709-4D94088D20A1}" destId="{87ACC990-887B-4BDF-BFD4-1DA6636F1F3D}" srcOrd="12" destOrd="0" presId="urn:microsoft.com/office/officeart/2008/layout/LinedList"/>
    <dgm:cxn modelId="{CA56D851-67A5-4FE9-A19B-A3015F65AC67}" type="presParOf" srcId="{6938A110-C40F-47BB-8709-4D94088D20A1}" destId="{66AB95AE-F3DA-41CA-97FB-72BE8E3FE825}" srcOrd="13" destOrd="0" presId="urn:microsoft.com/office/officeart/2008/layout/LinedList"/>
    <dgm:cxn modelId="{53323215-7B14-4BB5-8A8E-66687033A35F}" type="presParOf" srcId="{66AB95AE-F3DA-41CA-97FB-72BE8E3FE825}" destId="{6291B200-8CC6-4A75-83A1-0E88FCCEE602}" srcOrd="0" destOrd="0" presId="urn:microsoft.com/office/officeart/2008/layout/LinedList"/>
    <dgm:cxn modelId="{6EC8CECC-BE91-422C-8CEF-B6963907FDED}" type="presParOf" srcId="{66AB95AE-F3DA-41CA-97FB-72BE8E3FE825}" destId="{406B1562-9A04-40E7-9ACA-81B0EA1FBD93}" srcOrd="1" destOrd="0" presId="urn:microsoft.com/office/officeart/2008/layout/LinedList"/>
    <dgm:cxn modelId="{1899B578-CE4F-47A5-8F1F-FF765D69013C}" type="presParOf" srcId="{6938A110-C40F-47BB-8709-4D94088D20A1}" destId="{450812A7-329C-4389-965F-AD52F23A4C95}" srcOrd="14" destOrd="0" presId="urn:microsoft.com/office/officeart/2008/layout/LinedList"/>
    <dgm:cxn modelId="{61683CCF-B455-45FE-A110-967D570986A4}" type="presParOf" srcId="{6938A110-C40F-47BB-8709-4D94088D20A1}" destId="{F770AB46-BE22-4BDD-95CF-C7E60B2C690E}" srcOrd="15" destOrd="0" presId="urn:microsoft.com/office/officeart/2008/layout/LinedList"/>
    <dgm:cxn modelId="{65BEA0AA-8109-4A24-B3E6-0754B5160A0B}" type="presParOf" srcId="{F770AB46-BE22-4BDD-95CF-C7E60B2C690E}" destId="{27E0145F-206E-4F60-897E-392E4EAA9D63}" srcOrd="0" destOrd="0" presId="urn:microsoft.com/office/officeart/2008/layout/LinedList"/>
    <dgm:cxn modelId="{9D57FB6C-714E-48B1-BDE8-35D2DB1D71BF}" type="presParOf" srcId="{F770AB46-BE22-4BDD-95CF-C7E60B2C690E}" destId="{94F105FC-12BA-4CD6-A0CD-CF08D187325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F09C49-52E2-47DE-9C2A-7C2673367DDE}">
      <dsp:nvSpPr>
        <dsp:cNvPr id="0" name=""/>
        <dsp:cNvSpPr/>
      </dsp:nvSpPr>
      <dsp:spPr>
        <a:xfrm>
          <a:off x="0" y="0"/>
          <a:ext cx="65316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FF9561-4D23-47A4-BCAD-DDE6DF575D53}">
      <dsp:nvSpPr>
        <dsp:cNvPr id="0" name=""/>
        <dsp:cNvSpPr/>
      </dsp:nvSpPr>
      <dsp:spPr>
        <a:xfrm>
          <a:off x="0" y="0"/>
          <a:ext cx="6531684" cy="709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 dirty="0"/>
            <a:t>Am </a:t>
          </a:r>
          <a:r>
            <a:rPr lang="en-US" sz="1500" b="0" i="0" kern="1200" baseline="0" dirty="0" err="1"/>
            <a:t>implementat</a:t>
          </a:r>
          <a:r>
            <a:rPr lang="en-US" sz="1500" b="0" i="0" kern="1200" baseline="0" dirty="0"/>
            <a:t> cu </a:t>
          </a:r>
          <a:r>
            <a:rPr lang="en-US" sz="1500" b="0" i="0" kern="1200" baseline="0" dirty="0" err="1"/>
            <a:t>succes</a:t>
          </a:r>
          <a:r>
            <a:rPr lang="en-US" sz="1500" b="0" i="0" kern="1200" baseline="0" dirty="0"/>
            <a:t> un regulator MPC </a:t>
          </a:r>
          <a:r>
            <a:rPr lang="en-US" sz="1500" b="0" i="0" kern="1200" baseline="0" dirty="0" err="1"/>
            <a:t>bazat</a:t>
          </a:r>
          <a:r>
            <a:rPr lang="en-US" sz="1500" b="0" i="0" kern="1200" baseline="0" dirty="0"/>
            <a:t> pe </a:t>
          </a:r>
          <a:r>
            <a:rPr lang="en-US" sz="1500" b="0" i="0" kern="1200" baseline="0" dirty="0" err="1"/>
            <a:t>modelul</a:t>
          </a:r>
          <a:r>
            <a:rPr lang="en-US" sz="1500" b="0" i="0" kern="1200" baseline="0" dirty="0"/>
            <a:t> </a:t>
          </a:r>
          <a:r>
            <a:rPr lang="en-US" sz="1500" b="0" i="0" kern="1200" baseline="0" dirty="0" err="1"/>
            <a:t>identificat</a:t>
          </a:r>
          <a:r>
            <a:rPr lang="en-US" sz="1500" b="0" i="0" kern="1200" baseline="0" dirty="0"/>
            <a:t> cu N4SID </a:t>
          </a:r>
          <a:r>
            <a:rPr lang="en-US" sz="1500" b="0" i="0" kern="1200" baseline="0" dirty="0" err="1"/>
            <a:t>și</a:t>
          </a:r>
          <a:r>
            <a:rPr lang="en-US" sz="1500" b="0" i="0" kern="1200" baseline="0" dirty="0"/>
            <a:t> </a:t>
          </a:r>
          <a:r>
            <a:rPr lang="en-US" sz="1500" b="0" i="0" kern="1200" baseline="0" dirty="0" err="1"/>
            <a:t>optimizat</a:t>
          </a:r>
          <a:r>
            <a:rPr lang="en-US" sz="1500" b="0" i="0" kern="1200" baseline="0" dirty="0"/>
            <a:t> cu PEM </a:t>
          </a:r>
          <a:r>
            <a:rPr lang="en-US" sz="1500" b="0" i="0" kern="1200" baseline="0" dirty="0" err="1"/>
            <a:t>pentru</a:t>
          </a:r>
          <a:r>
            <a:rPr lang="en-US" sz="1500" b="0" i="0" kern="1200" baseline="0" dirty="0"/>
            <a:t> </a:t>
          </a:r>
          <a:r>
            <a:rPr lang="en-US" sz="1500" b="0" i="0" kern="1200" baseline="0" dirty="0" err="1"/>
            <a:t>controlul</a:t>
          </a:r>
          <a:r>
            <a:rPr lang="en-US" sz="1500" b="0" i="0" kern="1200" baseline="0" dirty="0"/>
            <a:t> ABS.</a:t>
          </a:r>
          <a:endParaRPr lang="en-US" sz="1500" kern="1200" dirty="0"/>
        </a:p>
      </dsp:txBody>
      <dsp:txXfrm>
        <a:off x="0" y="0"/>
        <a:ext cx="6531684" cy="709653"/>
      </dsp:txXfrm>
    </dsp:sp>
    <dsp:sp modelId="{061ABE99-7B50-45B8-BD2C-5726298BC79A}">
      <dsp:nvSpPr>
        <dsp:cNvPr id="0" name=""/>
        <dsp:cNvSpPr/>
      </dsp:nvSpPr>
      <dsp:spPr>
        <a:xfrm>
          <a:off x="0" y="709653"/>
          <a:ext cx="65316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8DF243-138A-405E-AD3F-86C3565285CB}">
      <dsp:nvSpPr>
        <dsp:cNvPr id="0" name=""/>
        <dsp:cNvSpPr/>
      </dsp:nvSpPr>
      <dsp:spPr>
        <a:xfrm>
          <a:off x="0" y="709653"/>
          <a:ext cx="6531684" cy="709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Slip-ul a fost menținut aproape de referința 0,7, fără suprareglaj și cu timp de răspuns redus.</a:t>
          </a:r>
          <a:endParaRPr lang="en-US" sz="1500" kern="1200"/>
        </a:p>
      </dsp:txBody>
      <dsp:txXfrm>
        <a:off x="0" y="709653"/>
        <a:ext cx="6531684" cy="709653"/>
      </dsp:txXfrm>
    </dsp:sp>
    <dsp:sp modelId="{986DDF65-0EE8-41ED-BE0C-B35759E8E0ED}">
      <dsp:nvSpPr>
        <dsp:cNvPr id="0" name=""/>
        <dsp:cNvSpPr/>
      </dsp:nvSpPr>
      <dsp:spPr>
        <a:xfrm>
          <a:off x="0" y="1419307"/>
          <a:ext cx="65316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074535-8C39-4125-8BF2-CC922A2E47BC}">
      <dsp:nvSpPr>
        <dsp:cNvPr id="0" name=""/>
        <dsp:cNvSpPr/>
      </dsp:nvSpPr>
      <dsp:spPr>
        <a:xfrm>
          <a:off x="0" y="1419307"/>
          <a:ext cx="6531684" cy="709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MPC a permis respectarea strictă a constrângerilor pe slip și comandă, fiind mai flexibil decât alte metode testate.</a:t>
          </a:r>
          <a:endParaRPr lang="en-US" sz="1500" kern="1200"/>
        </a:p>
      </dsp:txBody>
      <dsp:txXfrm>
        <a:off x="0" y="1419307"/>
        <a:ext cx="6531684" cy="709653"/>
      </dsp:txXfrm>
    </dsp:sp>
    <dsp:sp modelId="{2DF8A9EB-6842-4A1F-AA60-CF8C1C31C055}">
      <dsp:nvSpPr>
        <dsp:cNvPr id="0" name=""/>
        <dsp:cNvSpPr/>
      </dsp:nvSpPr>
      <dsp:spPr>
        <a:xfrm>
          <a:off x="0" y="2128961"/>
          <a:ext cx="65316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418BB5-A7A2-4A50-B656-F38C8044223E}">
      <dsp:nvSpPr>
        <dsp:cNvPr id="0" name=""/>
        <dsp:cNvSpPr/>
      </dsp:nvSpPr>
      <dsp:spPr>
        <a:xfrm>
          <a:off x="0" y="2128961"/>
          <a:ext cx="6531684" cy="709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 dirty="0" err="1"/>
            <a:t>Simulările</a:t>
          </a:r>
          <a:r>
            <a:rPr lang="en-US" sz="1500" b="0" i="0" kern="1200" baseline="0" dirty="0"/>
            <a:t> MATLAB </a:t>
          </a:r>
          <a:r>
            <a:rPr lang="en-US" sz="1500" b="0" i="0" kern="1200" baseline="0" dirty="0" err="1"/>
            <a:t>și</a:t>
          </a:r>
          <a:r>
            <a:rPr lang="en-US" sz="1500" b="0" i="0" kern="1200" baseline="0" dirty="0"/>
            <a:t> Simulink au </a:t>
          </a:r>
          <a:r>
            <a:rPr lang="en-US" sz="1500" b="0" i="0" kern="1200" baseline="0" dirty="0" err="1"/>
            <a:t>validat</a:t>
          </a:r>
          <a:r>
            <a:rPr lang="en-US" sz="1500" b="0" i="0" kern="1200" baseline="0" dirty="0"/>
            <a:t> </a:t>
          </a:r>
          <a:r>
            <a:rPr lang="en-US" sz="1500" b="0" i="0" kern="1200" baseline="0" dirty="0" err="1"/>
            <a:t>stabilitatea</a:t>
          </a:r>
          <a:r>
            <a:rPr lang="en-US" sz="1500" b="0" i="0" kern="1200" baseline="0" dirty="0"/>
            <a:t> </a:t>
          </a:r>
          <a:r>
            <a:rPr lang="en-US" sz="1500" b="0" i="0" kern="1200" baseline="0" dirty="0" err="1"/>
            <a:t>și</a:t>
          </a:r>
          <a:r>
            <a:rPr lang="en-US" sz="1500" b="0" i="0" kern="1200" baseline="0" dirty="0"/>
            <a:t> </a:t>
          </a:r>
          <a:r>
            <a:rPr lang="en-US" sz="1500" b="0" i="0" kern="1200" baseline="0" dirty="0" err="1"/>
            <a:t>robustețea</a:t>
          </a:r>
          <a:r>
            <a:rPr lang="en-US" sz="1500" b="0" i="0" kern="1200" baseline="0" dirty="0"/>
            <a:t> la </a:t>
          </a:r>
          <a:r>
            <a:rPr lang="en-US" sz="1500" b="0" i="0" kern="1200" baseline="0" dirty="0" err="1"/>
            <a:t>variații</a:t>
          </a:r>
          <a:r>
            <a:rPr lang="en-US" sz="1500" b="0" i="0" kern="1200" baseline="0" dirty="0"/>
            <a:t> de </a:t>
          </a:r>
          <a:r>
            <a:rPr lang="en-US" sz="1500" b="0" i="0" kern="1200" baseline="0" dirty="0" err="1"/>
            <a:t>parametri</a:t>
          </a:r>
          <a:r>
            <a:rPr lang="en-US" sz="1500" b="0" i="0" kern="1200" baseline="0" dirty="0"/>
            <a:t> ai </a:t>
          </a:r>
          <a:r>
            <a:rPr lang="en-US" sz="1500" b="0" i="0" kern="1200" baseline="0" dirty="0" err="1"/>
            <a:t>sistemului</a:t>
          </a:r>
          <a:r>
            <a:rPr lang="en-US" sz="1500" b="0" i="0" kern="1200" baseline="0" dirty="0"/>
            <a:t>.</a:t>
          </a:r>
          <a:endParaRPr lang="en-US" sz="1500" kern="1200" dirty="0"/>
        </a:p>
      </dsp:txBody>
      <dsp:txXfrm>
        <a:off x="0" y="2128961"/>
        <a:ext cx="6531684" cy="709653"/>
      </dsp:txXfrm>
    </dsp:sp>
    <dsp:sp modelId="{06B866E7-248B-4345-A20D-B2C657241F50}">
      <dsp:nvSpPr>
        <dsp:cNvPr id="0" name=""/>
        <dsp:cNvSpPr/>
      </dsp:nvSpPr>
      <dsp:spPr>
        <a:xfrm>
          <a:off x="0" y="2838614"/>
          <a:ext cx="65316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207991-91D4-4112-AE4F-09F0783E9E7C}">
      <dsp:nvSpPr>
        <dsp:cNvPr id="0" name=""/>
        <dsp:cNvSpPr/>
      </dsp:nvSpPr>
      <dsp:spPr>
        <a:xfrm>
          <a:off x="0" y="2838614"/>
          <a:ext cx="6531684" cy="709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Structura modulară a permis integrarea rapidă și testarea mai multor configurații de control.</a:t>
          </a:r>
          <a:endParaRPr lang="en-US" sz="1500" kern="1200"/>
        </a:p>
      </dsp:txBody>
      <dsp:txXfrm>
        <a:off x="0" y="2838614"/>
        <a:ext cx="6531684" cy="709653"/>
      </dsp:txXfrm>
    </dsp:sp>
    <dsp:sp modelId="{099BB0C3-6F42-4467-89A6-301413B26D82}">
      <dsp:nvSpPr>
        <dsp:cNvPr id="0" name=""/>
        <dsp:cNvSpPr/>
      </dsp:nvSpPr>
      <dsp:spPr>
        <a:xfrm>
          <a:off x="0" y="3548268"/>
          <a:ext cx="65316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B8CF1A-8A8D-4EDA-B4E0-E5B99454461A}">
      <dsp:nvSpPr>
        <dsp:cNvPr id="0" name=""/>
        <dsp:cNvSpPr/>
      </dsp:nvSpPr>
      <dsp:spPr>
        <a:xfrm>
          <a:off x="0" y="3548268"/>
          <a:ext cx="6531684" cy="709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 dirty="0"/>
            <a:t>Am </a:t>
          </a:r>
          <a:r>
            <a:rPr lang="en-US" sz="1500" b="0" i="0" kern="1200" baseline="0" dirty="0" err="1"/>
            <a:t>efectuat</a:t>
          </a:r>
          <a:r>
            <a:rPr lang="en-US" sz="1500" b="0" i="0" kern="1200" baseline="0" dirty="0"/>
            <a:t> teste comparative pe model</a:t>
          </a:r>
          <a:r>
            <a:rPr lang="ro-RO" sz="1500" b="0" i="0" kern="1200" baseline="0" dirty="0" err="1"/>
            <a:t>ul</a:t>
          </a:r>
          <a:r>
            <a:rPr lang="en-US" sz="1500" b="0" i="0" kern="1200" baseline="0" dirty="0"/>
            <a:t> </a:t>
          </a:r>
          <a:r>
            <a:rPr lang="en-US" sz="1500" b="0" i="0" kern="1200" baseline="0" dirty="0" err="1"/>
            <a:t>identificat</a:t>
          </a:r>
          <a:r>
            <a:rPr lang="en-US" sz="1500" b="0" i="0" kern="1200" baseline="0" dirty="0"/>
            <a:t> </a:t>
          </a:r>
          <a:r>
            <a:rPr lang="ro-RO" sz="1500" b="0" i="0" kern="1200" baseline="0" dirty="0"/>
            <a:t>de</a:t>
          </a:r>
          <a:r>
            <a:rPr lang="en-US" sz="1500" b="0" i="0" kern="1200" baseline="0" dirty="0"/>
            <a:t> pe </a:t>
          </a:r>
          <a:r>
            <a:rPr lang="en-US" sz="1500" b="0" i="0" kern="1200" baseline="0" dirty="0" err="1"/>
            <a:t>platforma</a:t>
          </a:r>
          <a:r>
            <a:rPr lang="en-US" sz="1500" b="0" i="0" kern="1200" baseline="0" dirty="0"/>
            <a:t> INTECO, </a:t>
          </a:r>
          <a:r>
            <a:rPr lang="en-US" sz="1500" b="0" i="0" kern="1200" baseline="0" dirty="0" err="1"/>
            <a:t>inclusiv</a:t>
          </a:r>
          <a:r>
            <a:rPr lang="en-US" sz="1500" b="0" i="0" kern="1200" baseline="0" dirty="0"/>
            <a:t> pe </a:t>
          </a:r>
          <a:r>
            <a:rPr lang="en-US" sz="1500" b="0" i="0" kern="1200" baseline="0" dirty="0" err="1"/>
            <a:t>sisteme</a:t>
          </a:r>
          <a:r>
            <a:rPr lang="en-US" sz="1500" b="0" i="0" kern="1200" baseline="0" dirty="0"/>
            <a:t> cu </a:t>
          </a:r>
          <a:r>
            <a:rPr lang="en-US" sz="1500" b="0" i="0" kern="1200" baseline="0" dirty="0" err="1"/>
            <a:t>versiuni</a:t>
          </a:r>
          <a:r>
            <a:rPr lang="en-US" sz="1500" b="0" i="0" kern="1200" baseline="0" dirty="0"/>
            <a:t> </a:t>
          </a:r>
          <a:r>
            <a:rPr lang="en-US" sz="1500" b="0" i="0" kern="1200" baseline="0" dirty="0" err="1"/>
            <a:t>diferite</a:t>
          </a:r>
          <a:r>
            <a:rPr lang="en-US" sz="1500" b="0" i="0" kern="1200" baseline="0" dirty="0"/>
            <a:t> de MATLAB.</a:t>
          </a:r>
          <a:endParaRPr lang="en-US" sz="1500" kern="1200" dirty="0"/>
        </a:p>
      </dsp:txBody>
      <dsp:txXfrm>
        <a:off x="0" y="3548268"/>
        <a:ext cx="6531684" cy="709653"/>
      </dsp:txXfrm>
    </dsp:sp>
    <dsp:sp modelId="{87ACC990-887B-4BDF-BFD4-1DA6636F1F3D}">
      <dsp:nvSpPr>
        <dsp:cNvPr id="0" name=""/>
        <dsp:cNvSpPr/>
      </dsp:nvSpPr>
      <dsp:spPr>
        <a:xfrm>
          <a:off x="0" y="4257922"/>
          <a:ext cx="65316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91B200-8CC6-4A75-83A1-0E88FCCEE602}">
      <dsp:nvSpPr>
        <dsp:cNvPr id="0" name=""/>
        <dsp:cNvSpPr/>
      </dsp:nvSpPr>
      <dsp:spPr>
        <a:xfrm>
          <a:off x="0" y="4257922"/>
          <a:ext cx="6531684" cy="709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S-au observat diferențe între răspunsul modelului identificat și cel al sistemului real, datorate limitărilor de compatibilitate și modelare.</a:t>
          </a:r>
          <a:endParaRPr lang="en-US" sz="1500" kern="1200"/>
        </a:p>
      </dsp:txBody>
      <dsp:txXfrm>
        <a:off x="0" y="4257922"/>
        <a:ext cx="6531684" cy="709653"/>
      </dsp:txXfrm>
    </dsp:sp>
    <dsp:sp modelId="{450812A7-329C-4389-965F-AD52F23A4C95}">
      <dsp:nvSpPr>
        <dsp:cNvPr id="0" name=""/>
        <dsp:cNvSpPr/>
      </dsp:nvSpPr>
      <dsp:spPr>
        <a:xfrm>
          <a:off x="0" y="4967576"/>
          <a:ext cx="65316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E0145F-206E-4F60-897E-392E4EAA9D63}">
      <dsp:nvSpPr>
        <dsp:cNvPr id="0" name=""/>
        <dsp:cNvSpPr/>
      </dsp:nvSpPr>
      <dsp:spPr>
        <a:xfrm>
          <a:off x="0" y="4967576"/>
          <a:ext cx="6531684" cy="709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Există potențial de optimizare suplimentară a timpului de răspuns și performanței regulatorului pe modelul real.</a:t>
          </a:r>
          <a:endParaRPr lang="en-US" sz="1500" kern="1200"/>
        </a:p>
      </dsp:txBody>
      <dsp:txXfrm>
        <a:off x="0" y="4967576"/>
        <a:ext cx="6531684" cy="7096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78F7CB-64F8-4AC4-9E66-6A99DDCC0F7F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EC83AC-2101-49AF-8A89-8C63F4F8B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213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EC83AC-2101-49AF-8A89-8C63F4F8BAC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8220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EC83AC-2101-49AF-8A89-8C63F4F8BAC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1105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EC83AC-2101-49AF-8A89-8C63F4F8BAC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332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D0F5B-86BD-4B6B-87F1-90737F1715B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802DFD77-D123-4633-8CFF-C77BCE9C6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543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D0F5B-86BD-4B6B-87F1-90737F1715B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DFD77-D123-4633-8CFF-C77BCE9C6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312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B85D0F5B-86BD-4B6B-87F1-90737F1715B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802DFD77-D123-4633-8CFF-C77BCE9C6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788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D0F5B-86BD-4B6B-87F1-90737F1715B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DFD77-D123-4633-8CFF-C77BCE9C6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974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D0F5B-86BD-4B6B-87F1-90737F1715B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DFD77-D123-4633-8CFF-C77BCE9C6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375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D0F5B-86BD-4B6B-87F1-90737F1715B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DFD77-D123-4633-8CFF-C77BCE9C6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607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D0F5B-86BD-4B6B-87F1-90737F1715B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DFD77-D123-4633-8CFF-C77BCE9C6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194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D0F5B-86BD-4B6B-87F1-90737F1715B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DFD77-D123-4633-8CFF-C77BCE9C6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286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D0F5B-86BD-4B6B-87F1-90737F1715B0}" type="datetimeFigureOut">
              <a:rPr lang="en-US" smtClean="0"/>
              <a:t>6/2/2025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DFD77-D123-4633-8CFF-C77BCE9C6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289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D0F5B-86BD-4B6B-87F1-90737F1715B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DFD77-D123-4633-8CFF-C77BCE9C6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299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D0F5B-86BD-4B6B-87F1-90737F1715B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DFD77-D123-4633-8CFF-C77BCE9C6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819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B85D0F5B-86BD-4B6B-87F1-90737F1715B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802DFD77-D123-4633-8CFF-C77BCE9C6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307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microsoft.com/office/2007/relationships/hdphoto" Target="../media/hdphoto2.wdp"/><Relationship Id="rId7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microsoft.com/office/2007/relationships/hdphoto" Target="../media/hdphoto3.wdp"/><Relationship Id="rId7" Type="http://schemas.openxmlformats.org/officeDocument/2006/relationships/diagramLayout" Target="../diagrams/layout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.xml"/><Relationship Id="rId5" Type="http://schemas.microsoft.com/office/2007/relationships/hdphoto" Target="../media/hdphoto2.wdp"/><Relationship Id="rId10" Type="http://schemas.microsoft.com/office/2007/relationships/diagramDrawing" Target="../diagrams/drawing1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1DBBB-D0AF-9CF5-A785-74E49899C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560" y="1432222"/>
            <a:ext cx="10018130" cy="2503937"/>
          </a:xfrm>
        </p:spPr>
        <p:txBody>
          <a:bodyPr>
            <a:normAutofit/>
          </a:bodyPr>
          <a:lstStyle/>
          <a:p>
            <a:pPr algn="ctr"/>
            <a:r>
              <a:rPr lang="en-US" sz="7200" b="1" dirty="0"/>
              <a:t>Control ABS </a:t>
            </a:r>
            <a:br>
              <a:rPr lang="en-US" sz="4800" b="1" dirty="0"/>
            </a:br>
            <a:r>
              <a:rPr lang="en-US" sz="4800" b="1" dirty="0"/>
              <a:t>(Antilock Braking System)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8C0B7B-CBEC-6540-BCD2-C03304B427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848" y="4537276"/>
            <a:ext cx="4360893" cy="1418251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Student: Duma Octavian Ioan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Grupa: 30132</a:t>
            </a:r>
          </a:p>
          <a:p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Proiect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la </a:t>
            </a: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Ingineria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Reg</a:t>
            </a:r>
            <a:r>
              <a:rPr lang="ro-RO" b="1" dirty="0" err="1">
                <a:latin typeface="Calibri" panose="020F0502020204030204" pitchFamily="34" charset="0"/>
                <a:cs typeface="Calibri" panose="020F0502020204030204" pitchFamily="34" charset="0"/>
              </a:rPr>
              <a:t>lării</a:t>
            </a:r>
            <a:r>
              <a:rPr lang="ro-RO" b="1" dirty="0">
                <a:latin typeface="Calibri" panose="020F0502020204030204" pitchFamily="34" charset="0"/>
                <a:cs typeface="Calibri" panose="020F0502020204030204" pitchFamily="34" charset="0"/>
              </a:rPr>
              <a:t> Automate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universitar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: 2024-2025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182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Rectangle 1046">
            <a:extLst>
              <a:ext uri="{FF2B5EF4-FFF2-40B4-BE49-F238E27FC236}">
                <a16:creationId xmlns:a16="http://schemas.microsoft.com/office/drawing/2014/main" id="{362E11DD-B54B-4751-9C17-39DAF9EF4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blipFill dpi="0" rotWithShape="1">
            <a:blip r:embed="rId3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8B8C38-3991-294C-8D5D-2FF8E9442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91" y="473304"/>
            <a:ext cx="6353092" cy="160934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800" b="1" dirty="0">
                <a:effectLst/>
              </a:rPr>
              <a:t>Antilock Braking System (ABS)</a:t>
            </a:r>
            <a:endParaRPr lang="en-US" sz="4800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5A13683B-52A8-E905-9D5D-A8D5186E5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267" y="2555952"/>
            <a:ext cx="6835857" cy="4033049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Sistemul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ABS (Anti-lock Braking System)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asigură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frânarea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optimă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vehiculului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prin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prevenirea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blocării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roților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. La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frânare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forța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inerție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poate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depăși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aderența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pneurilor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la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carosabil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ducând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la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alunecare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pierderea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controlului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direcției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None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Principiul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ABS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constă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întreruperi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rapide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ale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frânării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menține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alunecarea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zona de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aderență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maximă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păstrând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manevrabilitatea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siguranța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vehiculului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None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           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Sistemul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ABS INTECO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folosește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două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roți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cea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jos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simulează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drumul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antrenată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de un motor,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iar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cea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de sus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roata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mașinii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echipată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cu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frână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pe disc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controlată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de ABS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preveni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blocarea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Fiecare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roată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are un encoder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măsurarea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rotației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iar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ABS-ul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reglează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frâna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ca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roata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de sus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să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nu se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blocheze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menținând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aderența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cu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drumul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The ABS laboratory setup [11]. Source: Inteco Manual [11]. | Download  Scientific Diagram">
            <a:extLst>
              <a:ext uri="{FF2B5EF4-FFF2-40B4-BE49-F238E27FC236}">
                <a16:creationId xmlns:a16="http://schemas.microsoft.com/office/drawing/2014/main" id="{02EF39DC-1531-394B-77AA-EB21D6770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2" r="4880" b="1"/>
          <a:stretch>
            <a:fillRect/>
          </a:stretch>
        </p:blipFill>
        <p:spPr bwMode="auto">
          <a:xfrm>
            <a:off x="7545274" y="10"/>
            <a:ext cx="4646726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49" name="Group 1048">
            <a:extLst>
              <a:ext uri="{FF2B5EF4-FFF2-40B4-BE49-F238E27FC236}">
                <a16:creationId xmlns:a16="http://schemas.microsoft.com/office/drawing/2014/main" id="{B55DE4E1-F219-45A4-96D9-9A86D0E4D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50" name="Oval 1049">
              <a:extLst>
                <a:ext uri="{FF2B5EF4-FFF2-40B4-BE49-F238E27FC236}">
                  <a16:creationId xmlns:a16="http://schemas.microsoft.com/office/drawing/2014/main" id="{3601C3FF-4A5D-437C-B3DB-A53B99D30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6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51" name="Oval 1050">
              <a:extLst>
                <a:ext uri="{FF2B5EF4-FFF2-40B4-BE49-F238E27FC236}">
                  <a16:creationId xmlns:a16="http://schemas.microsoft.com/office/drawing/2014/main" id="{61B1BDC9-B583-4F65-8FE9-E2CBE71D93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0741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99C3D5-7D55-4046-808C-F290F456D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61035" y="1679569"/>
            <a:ext cx="3498864" cy="3498858"/>
            <a:chOff x="1061035" y="1679569"/>
            <a:chExt cx="3498864" cy="349885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59D8741-EAD6-41B1-A882-70D70FC358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1035" y="1679569"/>
              <a:ext cx="3498864" cy="3498858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400000"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5444F36-3103-4D11-A25F-C054D4606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46134" y="1864667"/>
              <a:ext cx="3128666" cy="312866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9158AFF-2232-1242-9644-E18CC09ED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145" y="2376862"/>
            <a:ext cx="2640646" cy="2104273"/>
          </a:xfrm>
          <a:noFill/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rgbClr val="FFFFFF"/>
                </a:solidFill>
              </a:rPr>
              <a:t>Scop </a:t>
            </a:r>
            <a:r>
              <a:rPr lang="en-US" sz="4800" dirty="0" err="1">
                <a:solidFill>
                  <a:srgbClr val="FFFFFF"/>
                </a:solidFill>
              </a:rPr>
              <a:t>sI</a:t>
            </a:r>
            <a:r>
              <a:rPr lang="en-US" sz="4800" dirty="0">
                <a:solidFill>
                  <a:srgbClr val="FFFFFF"/>
                </a:solidFill>
              </a:rPr>
              <a:t> </a:t>
            </a:r>
            <a:r>
              <a:rPr lang="en-US" sz="4800" dirty="0" err="1">
                <a:solidFill>
                  <a:srgbClr val="FFFFFF"/>
                </a:solidFill>
              </a:rPr>
              <a:t>Obiective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2277" y="3388659"/>
            <a:ext cx="3657600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F3C0E-1E9F-ED2C-ABB9-711FC1CB8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1419" y="1600199"/>
            <a:ext cx="6437058" cy="4355758"/>
          </a:xfrm>
        </p:spPr>
        <p:txBody>
          <a:bodyPr anchor="ctr">
            <a:normAutofit/>
          </a:bodyPr>
          <a:lstStyle/>
          <a:p>
            <a:r>
              <a:rPr lang="en-US" sz="1800" b="1">
                <a:latin typeface="Calibri" panose="020F0502020204030204" pitchFamily="34" charset="0"/>
                <a:cs typeface="Calibri" panose="020F0502020204030204" pitchFamily="34" charset="0"/>
              </a:rPr>
              <a:t>Scopul</a:t>
            </a:r>
            <a:r>
              <a:rPr lang="en-US" sz="1800">
                <a:latin typeface="Calibri" panose="020F0502020204030204" pitchFamily="34" charset="0"/>
                <a:cs typeface="Calibri" panose="020F0502020204030204" pitchFamily="34" charset="0"/>
              </a:rPr>
              <a:t> este de a controla printr-o metodă avansată a Ingineriei  Reglării </a:t>
            </a:r>
            <a:r>
              <a:rPr lang="ro-RO" sz="180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1800">
                <a:latin typeface="Calibri" panose="020F0502020204030204" pitchFamily="34" charset="0"/>
                <a:cs typeface="Calibri" panose="020F0502020204030204" pitchFamily="34" charset="0"/>
              </a:rPr>
              <a:t>Automate Sistemul de ABS, pentru a evita blocarea roților unui vehicul și pentru a maximiza coeficientul de frecare dintre anvelopă și drum, în vederea păstrării controlului asupra direcției de deplasare și a evitării derapajului.</a:t>
            </a:r>
          </a:p>
          <a:p>
            <a:r>
              <a:rPr lang="en-US" sz="1800" b="1">
                <a:latin typeface="Calibri" panose="020F0502020204030204" pitchFamily="34" charset="0"/>
                <a:cs typeface="Calibri" panose="020F0502020204030204" pitchFamily="34" charset="0"/>
              </a:rPr>
              <a:t>Obiective de control:  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>
                <a:latin typeface="Calibri" panose="020F0502020204030204" pitchFamily="34" charset="0"/>
                <a:cs typeface="Calibri" panose="020F0502020204030204" pitchFamily="34" charset="0"/>
              </a:rPr>
              <a:t>Obținerea unui sistem de control pentru ABS care să mențină         alunecarea între 0.6 și 0.8 în timpul frânării, fără a bloca roata.         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>
                <a:latin typeface="Calibri" panose="020F0502020204030204" pitchFamily="34" charset="0"/>
                <a:cs typeface="Calibri" panose="020F0502020204030204" pitchFamily="34" charset="0"/>
              </a:rPr>
              <a:t>Asigurarea controlabilității vehiculului prin limitarea alunecării excesive si evitarea blocării roții.      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>
                <a:latin typeface="Calibri" panose="020F0502020204030204" pitchFamily="34" charset="0"/>
                <a:cs typeface="Calibri" panose="020F0502020204030204" pitchFamily="34" charset="0"/>
              </a:rPr>
              <a:t>Implementarea și testarea unui regulator în MATLAB/Simulink care respectă comanda de frânare, folosește un model identificat din date reale și asigură răspuns rapid, fără suprareglaj și cu eroare mică.</a:t>
            </a:r>
            <a:endParaRPr lang="en-US" sz="1800" b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7536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F7E706-DE90-1156-90EA-84B430A0C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ro-RO" dirty="0"/>
              <a:t> Modelul Matematic al </a:t>
            </a:r>
            <a:r>
              <a:rPr lang="ro-RO" dirty="0" err="1"/>
              <a:t>Simularii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D158CD9-E2D4-78E8-F565-4C4975D39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70168"/>
            <a:ext cx="4098500" cy="452646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Intrare</a:t>
            </a: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ro-RO" sz="1600" b="1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Brake (u)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semnalul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frânare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Ieșiri</a:t>
            </a: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endParaRPr lang="ro-RO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Car position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–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poziția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unghiulară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maşinii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ro-RO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Wheel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–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poziția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unghiulară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roții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VCar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viteza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unghiulară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mașinii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VWheel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viteza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unghiulară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roții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Slip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raportul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alunecare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ForceNormal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forţa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normală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între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disc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şi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suprafaţă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mu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coeficientul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frecare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ForceFriction</a:t>
            </a: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–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forţa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frecare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M1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cuplul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frânare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D715346-7345-CC94-53AB-57D6B2C95D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4699" y="2641453"/>
            <a:ext cx="6317453" cy="3314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124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3AF35CD-DA30-4E34-B0F3-32C27766DA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6310" y="0"/>
            <a:ext cx="4355689" cy="6857999"/>
          </a:xfrm>
          <a:prstGeom prst="rect">
            <a:avLst/>
          </a:prstGeom>
          <a:blipFill dpi="0" rotWithShape="1">
            <a:blip r:embed="rId3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150AA6-532C-5415-B603-C7C8D6B17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9197" y="109100"/>
            <a:ext cx="4050221" cy="950977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3200" dirty="0" err="1"/>
              <a:t>IDENtificarea</a:t>
            </a:r>
            <a:r>
              <a:rPr lang="en-US" sz="3200" dirty="0"/>
              <a:t> </a:t>
            </a:r>
            <a:r>
              <a:rPr lang="en-US" sz="3200" dirty="0" err="1"/>
              <a:t>sistemului</a:t>
            </a:r>
            <a:endParaRPr lang="en-US" sz="32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E3AB342-D726-DACB-5DBD-F25799FA9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1851" y="971573"/>
            <a:ext cx="3777992" cy="2736806"/>
          </a:xfrm>
        </p:spPr>
        <p:txBody>
          <a:bodyPr>
            <a:normAutofit fontScale="92500" lnSpcReduction="20000"/>
          </a:bodyPr>
          <a:lstStyle/>
          <a:p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identificare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, am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folosit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metoda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N4SID, care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construiește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automat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modelul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de tip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spațiul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st</a:t>
            </a:r>
            <a:r>
              <a:rPr lang="ro-RO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ărilor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direct din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datele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intrare-ieșire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. N4SID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precisă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rapidă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robustă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la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zgomot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fiind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potrivită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sisteme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complexe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obține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un model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mai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fidel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, am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aplicat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metoda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PEM (Prediction Error Minimization)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optimizare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urma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comparațiilor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grafice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analizei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reziduurilor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modelul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rezultat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avut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cel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mai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bun grad de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potrivire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cu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datele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experimentale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(fit de 83.9%)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trecut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testul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intercorelație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Modelul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final a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fost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transformat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funcție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de transfer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simulările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ulterioare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160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CFC42DC-2C46-47C4-BC61-530557385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4B91A37-AA1F-4966-8ACF-93023547D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17B17AC5-0931-432F-9A4A-DDCFAA010A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D3EAD2EE-729F-0FA8-61BE-0E3B71CC54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239" y="535997"/>
            <a:ext cx="7491803" cy="55320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692577-2057-E88D-200A-01B04789ED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7064" y="3694003"/>
            <a:ext cx="3541861" cy="3163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80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497F8-85DA-286F-6582-679B452CC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286" y="454173"/>
            <a:ext cx="11416858" cy="781176"/>
          </a:xfrm>
        </p:spPr>
        <p:txBody>
          <a:bodyPr>
            <a:normAutofit/>
          </a:bodyPr>
          <a:lstStyle/>
          <a:p>
            <a:r>
              <a:rPr lang="en-US" sz="3600" dirty="0" err="1"/>
              <a:t>Metoda</a:t>
            </a:r>
            <a:r>
              <a:rPr lang="en-US" sz="3600" dirty="0"/>
              <a:t> </a:t>
            </a:r>
            <a:r>
              <a:rPr lang="en-US" sz="3600" dirty="0" err="1"/>
              <a:t>Avansata</a:t>
            </a:r>
            <a:r>
              <a:rPr lang="en-US" sz="3600" dirty="0"/>
              <a:t> de </a:t>
            </a:r>
            <a:r>
              <a:rPr lang="en-US" sz="3600" dirty="0" err="1"/>
              <a:t>reglare</a:t>
            </a:r>
            <a:r>
              <a:rPr lang="en-US" sz="3600" dirty="0"/>
              <a:t> - Model predictive control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5D6E91-B51A-DE3F-BE7A-ED758855D884}"/>
              </a:ext>
            </a:extLst>
          </p:cNvPr>
          <p:cNvSpPr txBox="1"/>
          <p:nvPr/>
        </p:nvSpPr>
        <p:spPr>
          <a:xfrm>
            <a:off x="5703393" y="1368988"/>
            <a:ext cx="6013240" cy="1271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200" b="1" i="1" dirty="0">
                <a:latin typeface="Calibri" panose="020F0502020204030204" pitchFamily="34" charset="0"/>
                <a:cs typeface="Calibri" panose="020F0502020204030204" pitchFamily="34" charset="0"/>
              </a:rPr>
              <a:t>Model Predictive Control (MPC)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metodă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avansată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de control care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folosește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un model intern al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sistemului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anticipa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evoluția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variabilelor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ieșire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pe un interval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scurt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timp.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La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fiecare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pas, MPC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rezolvă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problemă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optimizare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menține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sistemul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aproape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traiectoria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dorită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ținând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cont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constrângerile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fizice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. Din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soluție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, se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aplică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doar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prima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acțiune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de control,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procesul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repetându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-se la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fiecare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pas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asigura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robustețea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la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perturbări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06E7EF-2496-55A8-C58A-0EAD0A006B1F}"/>
              </a:ext>
            </a:extLst>
          </p:cNvPr>
          <p:cNvSpPr txBox="1"/>
          <p:nvPr/>
        </p:nvSpPr>
        <p:spPr>
          <a:xfrm>
            <a:off x="419100" y="4350372"/>
            <a:ext cx="609600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1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Configurarea</a:t>
            </a:r>
            <a:r>
              <a:rPr lang="en-US" sz="11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parametrilor</a:t>
            </a:r>
            <a:r>
              <a:rPr lang="en-US" sz="11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regulatorului</a:t>
            </a:r>
            <a:r>
              <a:rPr lang="en-US" sz="11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01E197-039E-A19C-012D-389D06988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773" y="4700546"/>
            <a:ext cx="1729836" cy="15563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1A7958-14F3-E1BF-7025-C040FFC030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6017" y="4784623"/>
            <a:ext cx="2612283" cy="13882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B95400E-2B2D-F69F-FF02-6434F6725FD8}"/>
              </a:ext>
            </a:extLst>
          </p:cNvPr>
          <p:cNvSpPr txBox="1"/>
          <p:nvPr/>
        </p:nvSpPr>
        <p:spPr>
          <a:xfrm>
            <a:off x="5662013" y="2806623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Modelul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bază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reprezentat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spațiul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stărilor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, nu are o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funcție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de transfer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explicită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de forma:</a:t>
            </a:r>
          </a:p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                  </a:t>
            </a:r>
          </a:p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</a:p>
          <a:p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Unde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x(k)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vectorul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stări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interne;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u(k)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comanda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frânare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y(k)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alunecarea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măsurată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29D1DE8-911A-D6A8-0090-B96460F9A8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0633" y="3285586"/>
            <a:ext cx="2394847" cy="1604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61D328F-73B7-1963-B598-8B703BE953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3461" y="3289889"/>
            <a:ext cx="2112195" cy="16042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5897271-1F5D-18E6-A32A-85D8FE6140E4}"/>
              </a:ext>
            </a:extLst>
          </p:cNvPr>
          <p:cNvSpPr txBox="1"/>
          <p:nvPr/>
        </p:nvSpPr>
        <p:spPr>
          <a:xfrm>
            <a:off x="5662013" y="4709063"/>
            <a:ext cx="485774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Prediction Horizon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: 25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pași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anticipare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eficientă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o-RO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Control Horizon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: 2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pași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o-RO" sz="1200" dirty="0">
                <a:latin typeface="Calibri" panose="020F0502020204030204" pitchFamily="34" charset="0"/>
                <a:cs typeface="Calibri" panose="020F0502020204030204" pitchFamily="34" charset="0"/>
              </a:rPr>
              <a:t>de control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optim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timp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răspuns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o-RO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 err="1">
                <a:latin typeface="Calibri" panose="020F0502020204030204" pitchFamily="34" charset="0"/>
                <a:cs typeface="Calibri" panose="020F0502020204030204" pitchFamily="34" charset="0"/>
              </a:rPr>
              <a:t>SlipRef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: 0,7 –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maximizare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aderență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fără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blocare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o-RO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 err="1">
                <a:latin typeface="Calibri" panose="020F0502020204030204" pitchFamily="34" charset="0"/>
                <a:cs typeface="Calibri" panose="020F0502020204030204" pitchFamily="34" charset="0"/>
              </a:rPr>
              <a:t>Weights.OutputVariables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: 1 –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prioritate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urmărirea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slip-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ului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o-RO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 err="1">
                <a:latin typeface="Calibri" panose="020F0502020204030204" pitchFamily="34" charset="0"/>
                <a:cs typeface="Calibri" panose="020F0502020204030204" pitchFamily="34" charset="0"/>
              </a:rPr>
              <a:t>Weights.ManipulatedVariables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: 0 –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fără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restricții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pe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frânare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o-RO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 err="1">
                <a:latin typeface="Calibri" panose="020F0502020204030204" pitchFamily="34" charset="0"/>
                <a:cs typeface="Calibri" panose="020F0502020204030204" pitchFamily="34" charset="0"/>
              </a:rPr>
              <a:t>Weights.ManipulatedVariablesRate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: 0,1 –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acțiuni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line.</a:t>
            </a:r>
            <a:endParaRPr lang="ro-RO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 err="1">
                <a:latin typeface="Calibri" panose="020F0502020204030204" pitchFamily="34" charset="0"/>
                <a:cs typeface="Calibri" panose="020F0502020204030204" pitchFamily="34" charset="0"/>
              </a:rPr>
              <a:t>MV.Min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/Max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: Limite 0…1,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realism.</a:t>
            </a:r>
            <a:endParaRPr lang="ro-RO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Ts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: Identic cu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modelul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compatibilitate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087E39E-D232-D1C7-35DC-3FD676DCE3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919" y="1301667"/>
            <a:ext cx="5324375" cy="2890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74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3AF35CD-DA30-4E34-B0F3-32C27766DA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6310" y="0"/>
            <a:ext cx="435568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569E3-A9F3-A71C-CD1C-8D9E5E887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6350" y="484632"/>
            <a:ext cx="3937584" cy="1609344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3200" dirty="0" err="1"/>
              <a:t>Implementarea</a:t>
            </a:r>
            <a:r>
              <a:rPr lang="en-US" sz="3200" dirty="0"/>
              <a:t> </a:t>
            </a:r>
            <a:r>
              <a:rPr lang="en-US" sz="3200" dirty="0" err="1"/>
              <a:t>sistemului</a:t>
            </a:r>
            <a:r>
              <a:rPr lang="en-US" sz="3200" dirty="0"/>
              <a:t> de control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38FB2E1-FE08-E893-8AA5-948C4DA43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42137" y="2578608"/>
            <a:ext cx="3544034" cy="4050792"/>
          </a:xfrm>
        </p:spPr>
        <p:txBody>
          <a:bodyPr>
            <a:normAutofit/>
          </a:bodyPr>
          <a:lstStyle/>
          <a:p>
            <a:r>
              <a:rPr lang="ro-RO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istemul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permite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simularea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și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reglarea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automată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frân</a:t>
            </a:r>
            <a:r>
              <a:rPr lang="ro-RO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ă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ro-RO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ii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în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funcție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comportamentul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estimat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și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măsurat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al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roții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cu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scopul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a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menține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alunecarea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în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zona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optimă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aderență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prevenind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blocarea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roții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și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menținând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controlul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asupra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vehiculului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CFC42DC-2C46-47C4-BC61-530557385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4B91A37-AA1F-4966-8ACF-93023547D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7B17AC5-0931-432F-9A4A-DDCFAA010A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1DF1A386-E47B-4868-5C2C-524384A6D250}"/>
              </a:ext>
            </a:extLst>
          </p:cNvPr>
          <p:cNvSpPr txBox="1"/>
          <p:nvPr/>
        </p:nvSpPr>
        <p:spPr>
          <a:xfrm>
            <a:off x="405829" y="3794143"/>
            <a:ext cx="714830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1600" dirty="0"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Semnalul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Slip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măsurat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comparat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cu un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semnal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referință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SlipRef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, de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valoare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0.7)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într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-un bloc de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diferență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ponderată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Eidf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(care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reprezintă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un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coeficient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ajustare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erorii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identificare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). </a:t>
            </a:r>
          </a:p>
          <a:p>
            <a:r>
              <a:rPr lang="ro-RO" sz="1600" dirty="0">
                <a:latin typeface="Calibri" panose="020F0502020204030204" pitchFamily="34" charset="0"/>
                <a:cs typeface="Calibri" panose="020F0502020204030204" pitchFamily="34" charset="0"/>
              </a:rPr>
              <a:t>          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Regulatorul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MPC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primește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ref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–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referința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de slip </a:t>
            </a:r>
            <a:r>
              <a:rPr lang="ro-RO" sz="1600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US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mo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valoarea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măsurată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a slip-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ului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actual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calculează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comanda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optimă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de control </a:t>
            </a:r>
            <a:r>
              <a:rPr lang="ro-RO" sz="1600" b="1" dirty="0">
                <a:latin typeface="Calibri" panose="020F0502020204030204" pitchFamily="34" charset="0"/>
                <a:cs typeface="Calibri" panose="020F0502020204030204" pitchFamily="34" charset="0"/>
              </a:rPr>
              <a:t>mv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,pe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baza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alunecării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actuale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funcție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modelul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predictiv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intern,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constrângeri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orizontul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predicție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Comanda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mv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aplicată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înapoi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ca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semnal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de control (Brake Controlled)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către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ABS Model,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închizând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astfel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bucla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reacție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7AE3F03-F097-29A9-7D85-2EF0B6A735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427" y="484632"/>
            <a:ext cx="7251889" cy="305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108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62545-56F7-3D80-5B32-D828E1510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6899" y="618069"/>
            <a:ext cx="2951656" cy="1006703"/>
          </a:xfrm>
        </p:spPr>
        <p:txBody>
          <a:bodyPr>
            <a:normAutofit/>
          </a:bodyPr>
          <a:lstStyle/>
          <a:p>
            <a:r>
              <a:rPr lang="ro-RO" dirty="0"/>
              <a:t>REZULTATE</a:t>
            </a:r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C62D2A-0EFD-BF2B-D463-397887A39759}"/>
              </a:ext>
            </a:extLst>
          </p:cNvPr>
          <p:cNvSpPr txBox="1"/>
          <p:nvPr/>
        </p:nvSpPr>
        <p:spPr>
          <a:xfrm>
            <a:off x="280754" y="4928350"/>
            <a:ext cx="118900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Ambele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identificate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discret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și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continuu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prezintă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un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răspuns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rapid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și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bine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amortizat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la o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treaptă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cu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timp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răspuns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sub 0.5 s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și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un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suprareglaj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redus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aproximativ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2.6%.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Valorile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finale se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apropie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1 (≈ 0.993),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indicând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stabilitate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și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acuratețe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Eroarea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staționară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la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poziție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0.007,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adică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0.7%,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ceea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foarte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mică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și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poate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fi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considerată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neglijabilă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în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practică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AC966E1-3A53-473B-11EA-84084F9382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1419" y="1785040"/>
            <a:ext cx="2926365" cy="283386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D53E788-2B05-787E-9C38-68D2F32E9B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754" y="1785040"/>
            <a:ext cx="2951655" cy="283386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AE96AA2-B1D4-1092-EE89-AF2FD32CC9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7784" y="1785040"/>
            <a:ext cx="2913718" cy="283386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6F1F6C5-00FD-43DF-D179-DE020902D5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19764" y="1785040"/>
            <a:ext cx="2951655" cy="2833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491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709FB13-A9B5-4823-EF8B-0C7D2F58F05F}"/>
              </a:ext>
            </a:extLst>
          </p:cNvPr>
          <p:cNvSpPr txBox="1"/>
          <p:nvPr/>
        </p:nvSpPr>
        <p:spPr>
          <a:xfrm>
            <a:off x="6182673" y="4455214"/>
            <a:ext cx="4646212" cy="676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Comanda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regulatorului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MPC 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pornește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brusc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scade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puțin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și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apoi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crește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controlat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până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aproape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0.7. 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După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0.2 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secunde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se 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stabilizează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fără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oscilații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mari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01F9E8-E562-F38F-5F71-EA4C68386911}"/>
              </a:ext>
            </a:extLst>
          </p:cNvPr>
          <p:cNvSpPr txBox="1"/>
          <p:nvPr/>
        </p:nvSpPr>
        <p:spPr>
          <a:xfrm>
            <a:off x="1010913" y="4232020"/>
            <a:ext cx="5171760" cy="2066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Sistemul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ABS 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controlat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cu MPC 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prezintă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performanțe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bune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Timp de 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răspuns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foarte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bun(≈0.1 s);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Absența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suprareglajului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Stabilizare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exactă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la 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referință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(0.7) - o respect</a:t>
            </a:r>
            <a:r>
              <a:rPr lang="ro-RO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ă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cu 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fidelitate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Fără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oscilații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Fără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suprareglaj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B3FAFEA-30BF-F5FD-A8D5-049B70AE0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913" y="331712"/>
            <a:ext cx="4517897" cy="403498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3CE7376-2C66-E96E-E577-994A2C159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315" y="331711"/>
            <a:ext cx="4517897" cy="403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733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4796F55-6C23-297F-3051-EDAD1C0062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3209" y="630549"/>
            <a:ext cx="5428106" cy="4833985"/>
          </a:xfrm>
          <a:prstGeom prst="rect">
            <a:avLst/>
          </a:prstGeom>
        </p:spPr>
      </p:pic>
      <p:sp>
        <p:nvSpPr>
          <p:cNvPr id="12" name="Rectangle 3">
            <a:extLst>
              <a:ext uri="{FF2B5EF4-FFF2-40B4-BE49-F238E27FC236}">
                <a16:creationId xmlns:a16="http://schemas.microsoft.com/office/drawing/2014/main" id="{EF78E25B-887B-E53B-7749-ADAC4FF7F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649" y="5545673"/>
            <a:ext cx="552122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Slip-ul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crește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rapid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atinge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maximul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(0,7)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aprox</a:t>
            </a:r>
            <a:r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1s,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fără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suprareglaj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După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~1,3 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apare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scădere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bruscă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probabil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din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cauza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relaxării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frânei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Referința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nu se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menține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stabil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semnalul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frână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scade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Timpul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răspuns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~0,875 s 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banda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de 2%).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E7FA97-47B7-B3FC-2227-2D32A52D27C7}"/>
              </a:ext>
            </a:extLst>
          </p:cNvPr>
          <p:cNvSpPr txBox="1"/>
          <p:nvPr/>
        </p:nvSpPr>
        <p:spPr>
          <a:xfrm>
            <a:off x="6264127" y="5545672"/>
            <a:ext cx="55912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Comanda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ABS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scade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rapid la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început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apoi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se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stabilizează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între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0,6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0,7.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doua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parte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crește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spre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1,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menține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slip-ul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optim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Graficul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Regulator Command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reflectă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un control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sensibil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bine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ajustat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la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stările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sistemului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1B8B1C8-5A14-9CB7-4AF1-28F12D9C4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4127" y="630550"/>
            <a:ext cx="5415084" cy="4833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781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5076966-C8DE-05EC-667E-9B7167E28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889" y="0"/>
            <a:ext cx="89522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906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799C3D5-7D55-4046-808C-F290F456D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61035" y="1679569"/>
            <a:ext cx="3498864" cy="3498858"/>
            <a:chOff x="1061035" y="1679569"/>
            <a:chExt cx="3498864" cy="3498858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59D8741-EAD6-41B1-A882-70D70FC358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1035" y="1679569"/>
              <a:ext cx="3498864" cy="3498858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400000"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5444F36-3103-4D11-A25F-C054D4606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46134" y="1864667"/>
              <a:ext cx="3128666" cy="312866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C695AF9-FDF4-C13E-260B-7A0447444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145" y="2376862"/>
            <a:ext cx="2640646" cy="2104273"/>
          </a:xfrm>
          <a:noFill/>
        </p:spPr>
        <p:txBody>
          <a:bodyPr>
            <a:normAutofit/>
          </a:bodyPr>
          <a:lstStyle/>
          <a:p>
            <a:pPr algn="ctr"/>
            <a:r>
              <a:rPr lang="en-US" sz="4800" dirty="0" err="1">
                <a:solidFill>
                  <a:srgbClr val="FFFFFF"/>
                </a:solidFill>
              </a:rPr>
              <a:t>coNcluzii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2277" y="3388659"/>
            <a:ext cx="3657600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8" name="Rectangle 1">
            <a:extLst>
              <a:ext uri="{FF2B5EF4-FFF2-40B4-BE49-F238E27FC236}">
                <a16:creationId xmlns:a16="http://schemas.microsoft.com/office/drawing/2014/main" id="{EA29074E-1EA0-0AB5-2609-6E8F9475A6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1690992"/>
              </p:ext>
            </p:extLst>
          </p:nvPr>
        </p:nvGraphicFramePr>
        <p:xfrm>
          <a:off x="5452103" y="739472"/>
          <a:ext cx="6531684" cy="5677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6316526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1044</TotalTime>
  <Words>1244</Words>
  <Application>Microsoft Office PowerPoint</Application>
  <PresentationFormat>Widescreen</PresentationFormat>
  <Paragraphs>82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Aptos</vt:lpstr>
      <vt:lpstr>Arial</vt:lpstr>
      <vt:lpstr>Calibri</vt:lpstr>
      <vt:lpstr>Rockwell</vt:lpstr>
      <vt:lpstr>Rockwell Condensed</vt:lpstr>
      <vt:lpstr>Rockwell Extra Bold</vt:lpstr>
      <vt:lpstr>Symbol</vt:lpstr>
      <vt:lpstr>Wingdings</vt:lpstr>
      <vt:lpstr>Wood Type</vt:lpstr>
      <vt:lpstr>Control ABS  (Antilock Braking System)</vt:lpstr>
      <vt:lpstr>Antilock Braking System (ABS)</vt:lpstr>
      <vt:lpstr>Scop sI Obiective</vt:lpstr>
      <vt:lpstr> Modelul Matematic al Simularii</vt:lpstr>
      <vt:lpstr>IDENtificarea sistemului</vt:lpstr>
      <vt:lpstr>Metoda Avansata de reglare - Model predictive control</vt:lpstr>
      <vt:lpstr>Implementarea sistemului de control</vt:lpstr>
      <vt:lpstr>REZULTATE</vt:lpstr>
      <vt:lpstr>PowerPoint Presentation</vt:lpstr>
      <vt:lpstr>PowerPoint Presentation</vt:lpstr>
      <vt:lpstr>PowerPoint Presentation</vt:lpstr>
      <vt:lpstr>coNcluzii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Octavian Ioan Duma</dc:creator>
  <cp:lastModifiedBy>Octavian Ioan Duma</cp:lastModifiedBy>
  <cp:revision>10</cp:revision>
  <dcterms:created xsi:type="dcterms:W3CDTF">2025-06-01T18:28:36Z</dcterms:created>
  <dcterms:modified xsi:type="dcterms:W3CDTF">2025-06-02T22:00:47Z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2025-06-01T18:37:03Z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72e78924-44cc-4c31-8930-3d46bccf600f</vt:lpwstr>
  </property>
  <property fmtid="{D5CDD505-2E9C-101B-9397-08002B2CF9AE}" pid="8" name="MSIP_Label_5b58b62f-6f94-46bd-8089-18e64b0a9abb_ContentBits">
    <vt:lpwstr>0</vt:lpwstr>
  </property>
  <property fmtid="{D5CDD505-2E9C-101B-9397-08002B2CF9AE}" pid="9" name="MSIP_Label_5b58b62f-6f94-46bd-8089-18e64b0a9abb_Tag">
    <vt:lpwstr>10, 3, 0, 1</vt:lpwstr>
  </property>
</Properties>
</file>